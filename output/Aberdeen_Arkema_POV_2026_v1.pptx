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513892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5720"/>
            <a:ext cx="9144000" cy="18288"/>
          </a:xfrm>
          <a:prstGeom prst="rect">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64592" cy="5138928"/>
          </a:xfrm>
          <a:prstGeom prst="rect">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48640" y="1188720"/>
            <a:ext cx="8138160" cy="548640"/>
          </a:xfrm>
          <a:prstGeom prst="rect">
            <a:avLst/>
          </a:prstGeom>
          <a:noFill/>
        </p:spPr>
        <p:txBody>
          <a:bodyPr wrap="square" lIns="45720" rIns="45720" anchor="t">
            <a:spAutoFit/>
          </a:bodyPr>
          <a:lstStyle/>
          <a:p>
            <a:pPr algn="l">
              <a:spcBef>
                <a:spcPts val="0"/>
              </a:spcBef>
              <a:spcAft>
                <a:spcPts val="0"/>
              </a:spcAft>
            </a:pPr>
            <a:r>
              <a:rPr sz="3200" b="1" i="0">
                <a:solidFill>
                  <a:srgbClr val="09375F"/>
                </a:solidFill>
                <a:latin typeface="Poppins"/>
              </a:rPr>
              <a:t>Arkema &amp; Aberdeen Advisors</a:t>
            </a:r>
          </a:p>
        </p:txBody>
      </p:sp>
      <p:sp>
        <p:nvSpPr>
          <p:cNvPr id="5" name="Rectangle 4"/>
          <p:cNvSpPr/>
          <p:nvPr/>
        </p:nvSpPr>
        <p:spPr>
          <a:xfrm>
            <a:off x="566928" y="1847088"/>
            <a:ext cx="1280160" cy="54864"/>
          </a:xfrm>
          <a:prstGeom prst="rect">
            <a:avLst/>
          </a:prstGeom>
          <a:solidFill>
            <a:srgbClr val="F7CE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48640" y="2029968"/>
            <a:ext cx="7863840" cy="310896"/>
          </a:xfrm>
          <a:prstGeom prst="rect">
            <a:avLst/>
          </a:prstGeom>
          <a:noFill/>
        </p:spPr>
        <p:txBody>
          <a:bodyPr wrap="square" lIns="45720" rIns="45720" anchor="t">
            <a:spAutoFit/>
          </a:bodyPr>
          <a:lstStyle/>
          <a:p>
            <a:pPr algn="l">
              <a:spcBef>
                <a:spcPts val="0"/>
              </a:spcBef>
              <a:spcAft>
                <a:spcPts val="0"/>
              </a:spcAft>
            </a:pPr>
            <a:r>
              <a:rPr sz="1600" b="0" i="0">
                <a:solidFill>
                  <a:srgbClr val="09375F"/>
                </a:solidFill>
                <a:latin typeface="Poppins"/>
              </a:rPr>
              <a:t>Point of view on Arkema's second-quarter 2026 results</a:t>
            </a:r>
          </a:p>
        </p:txBody>
      </p:sp>
      <p:sp>
        <p:nvSpPr>
          <p:cNvPr id="7" name="TextBox 6"/>
          <p:cNvSpPr txBox="1"/>
          <p:nvPr/>
        </p:nvSpPr>
        <p:spPr>
          <a:xfrm>
            <a:off x="548640" y="2377440"/>
            <a:ext cx="7863840" cy="274320"/>
          </a:xfrm>
          <a:prstGeom prst="rect">
            <a:avLst/>
          </a:prstGeom>
          <a:noFill/>
        </p:spPr>
        <p:txBody>
          <a:bodyPr wrap="square" lIns="45720" rIns="45720" anchor="t">
            <a:spAutoFit/>
          </a:bodyPr>
          <a:lstStyle/>
          <a:p>
            <a:pPr algn="l">
              <a:spcBef>
                <a:spcPts val="0"/>
              </a:spcBef>
              <a:spcAft>
                <a:spcPts val="0"/>
              </a:spcAft>
            </a:pPr>
            <a:r>
              <a:rPr sz="1100" b="0" i="0">
                <a:solidFill>
                  <a:srgbClr val="5F5F5F"/>
                </a:solidFill>
                <a:latin typeface="Poppins"/>
              </a:rPr>
              <a:t>Prepared for discussion</a:t>
            </a:r>
            <a:r>
              <a:rPr sz="1100" b="0" i="0">
                <a:solidFill>
                  <a:srgbClr val="44B0B1"/>
                </a:solidFill>
                <a:latin typeface="Poppins"/>
              </a:rPr>
              <a:t>   ·   </a:t>
            </a:r>
            <a:r>
              <a:rPr sz="1100" b="1" i="0">
                <a:solidFill>
                  <a:srgbClr val="5F5F5F"/>
                </a:solidFill>
                <a:latin typeface="Poppins"/>
              </a:rPr>
              <a:t>081426</a:t>
            </a:r>
          </a:p>
        </p:txBody>
      </p:sp>
      <p:sp>
        <p:nvSpPr>
          <p:cNvPr id="8" name="Rectangle 7"/>
          <p:cNvSpPr/>
          <p:nvPr/>
        </p:nvSpPr>
        <p:spPr>
          <a:xfrm>
            <a:off x="548640" y="2880360"/>
            <a:ext cx="8046720" cy="841248"/>
          </a:xfrm>
          <a:prstGeom prst="rect">
            <a:avLst/>
          </a:prstGeom>
          <a:solidFill>
            <a:srgbClr val="E7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13232" y="2980944"/>
            <a:ext cx="7726679" cy="658368"/>
          </a:xfrm>
          <a:prstGeom prst="rect">
            <a:avLst/>
          </a:prstGeom>
          <a:noFill/>
        </p:spPr>
        <p:txBody>
          <a:bodyPr wrap="square" lIns="45720" rIns="45720" anchor="t">
            <a:spAutoFit/>
          </a:bodyPr>
          <a:lstStyle/>
          <a:p>
            <a:pPr algn="l">
              <a:spcBef>
                <a:spcPts val="0"/>
              </a:spcBef>
              <a:spcAft>
                <a:spcPts val="0"/>
              </a:spcAft>
            </a:pPr>
            <a:r>
              <a:rPr sz="1000" b="1" i="0">
                <a:solidFill>
                  <a:srgbClr val="09375F"/>
                </a:solidFill>
                <a:latin typeface="Poppins"/>
              </a:rPr>
              <a:t>PROVISIONAL — PENDING REVIEW.</a:t>
            </a:r>
            <a:r>
              <a:rPr sz="1000" b="0" i="0">
                <a:solidFill>
                  <a:srgbClr val="404040"/>
                </a:solidFill>
                <a:latin typeface="Poppins"/>
              </a:rPr>
              <a:t>  AI-generated draft. Requires explicit human review and approval before finalization under the Aberdeen AI Use Policy (Draft 0.4); nothing in this deck has been approved for external use.</a:t>
            </a:r>
          </a:p>
        </p:txBody>
      </p:sp>
      <p:sp>
        <p:nvSpPr>
          <p:cNvPr id="10" name="TextBox 9"/>
          <p:cNvSpPr txBox="1"/>
          <p:nvPr/>
        </p:nvSpPr>
        <p:spPr>
          <a:xfrm>
            <a:off x="548640" y="3931920"/>
            <a:ext cx="8046720" cy="310896"/>
          </a:xfrm>
          <a:prstGeom prst="rect">
            <a:avLst/>
          </a:prstGeom>
          <a:noFill/>
        </p:spPr>
        <p:txBody>
          <a:bodyPr wrap="square" lIns="45720" rIns="45720" anchor="t">
            <a:spAutoFit/>
          </a:bodyPr>
          <a:lstStyle/>
          <a:p>
            <a:pPr algn="l">
              <a:spcBef>
                <a:spcPts val="0"/>
              </a:spcBef>
              <a:spcAft>
                <a:spcPts val="0"/>
              </a:spcAft>
            </a:pPr>
            <a:r>
              <a:rPr sz="850" b="0" i="0">
                <a:solidFill>
                  <a:srgbClr val="5F5F5F"/>
                </a:solidFill>
                <a:latin typeface="Poppins"/>
              </a:rPr>
              <a:t>Every Arkema figure in this deck is taken from Arkema's second-quarter 2026 results press release of 30 July 2026. No other source of Arkema data was used.</a:t>
            </a:r>
          </a:p>
        </p:txBody>
      </p:sp>
      <p:pic>
        <p:nvPicPr>
          <p:cNvPr id="11" name="Picture 10" descr="arkema_logo.png"/>
          <p:cNvPicPr>
            <a:picLocks noChangeAspect="1"/>
          </p:cNvPicPr>
          <p:nvPr/>
        </p:nvPicPr>
        <p:blipFill>
          <a:blip r:embed="rId2"/>
          <a:stretch>
            <a:fillRect/>
          </a:stretch>
        </p:blipFill>
        <p:spPr>
          <a:xfrm>
            <a:off x="548640" y="4389120"/>
            <a:ext cx="907026" cy="274320"/>
          </a:xfrm>
          <a:prstGeom prst="rect">
            <a:avLst/>
          </a:prstGeom>
        </p:spPr>
      </p:pic>
      <p:pic>
        <p:nvPicPr>
          <p:cNvPr id="12" name="Picture 11" descr="aberdeen_logo.png"/>
          <p:cNvPicPr>
            <a:picLocks noChangeAspect="1"/>
          </p:cNvPicPr>
          <p:nvPr/>
        </p:nvPicPr>
        <p:blipFill>
          <a:blip r:embed="rId3"/>
          <a:stretch>
            <a:fillRect/>
          </a:stretch>
        </p:blipFill>
        <p:spPr>
          <a:xfrm>
            <a:off x="7269480" y="4416552"/>
            <a:ext cx="1371600" cy="30924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5720"/>
            <a:ext cx="9144000" cy="18288"/>
          </a:xfrm>
          <a:prstGeom prst="rect">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274320" y="201168"/>
            <a:ext cx="8595360" cy="402336"/>
          </a:xfrm>
          <a:prstGeom prst="rect">
            <a:avLst/>
          </a:prstGeom>
          <a:noFill/>
        </p:spPr>
        <p:txBody>
          <a:bodyPr wrap="square" lIns="45720" rIns="45720" anchor="t">
            <a:spAutoFit/>
          </a:bodyPr>
          <a:lstStyle/>
          <a:p>
            <a:pPr algn="l">
              <a:spcBef>
                <a:spcPts val="0"/>
              </a:spcBef>
              <a:spcAft>
                <a:spcPts val="0"/>
              </a:spcAft>
            </a:pPr>
            <a:r>
              <a:rPr sz="2400" b="1" i="0">
                <a:solidFill>
                  <a:srgbClr val="09375F"/>
                </a:solidFill>
                <a:latin typeface="Poppins"/>
              </a:rPr>
              <a:t>Proposed topics for this conversation</a:t>
            </a:r>
          </a:p>
        </p:txBody>
      </p:sp>
      <p:sp>
        <p:nvSpPr>
          <p:cNvPr id="4" name="TextBox 3"/>
          <p:cNvSpPr txBox="1"/>
          <p:nvPr/>
        </p:nvSpPr>
        <p:spPr>
          <a:xfrm>
            <a:off x="274320" y="621792"/>
            <a:ext cx="8595360" cy="365760"/>
          </a:xfrm>
          <a:prstGeom prst="rect">
            <a:avLst/>
          </a:prstGeom>
          <a:noFill/>
        </p:spPr>
        <p:txBody>
          <a:bodyPr wrap="square" lIns="45720" rIns="45720" anchor="t">
            <a:spAutoFit/>
          </a:bodyPr>
          <a:lstStyle/>
          <a:p>
            <a:pPr algn="l">
              <a:spcBef>
                <a:spcPts val="0"/>
              </a:spcBef>
              <a:spcAft>
                <a:spcPts val="0"/>
              </a:spcAft>
            </a:pPr>
            <a:r>
              <a:rPr sz="1200" b="0" i="0">
                <a:solidFill>
                  <a:srgbClr val="09375F"/>
                </a:solidFill>
                <a:latin typeface="Poppins"/>
              </a:rPr>
              <a:t>Three topics drawn from Arkema's own second-quarter disclosure, and where Aberdeen's offerings line up against each.</a:t>
            </a:r>
          </a:p>
        </p:txBody>
      </p:sp>
      <p:pic>
        <p:nvPicPr>
          <p:cNvPr id="5" name="Picture 4" descr="arkema_logo.png"/>
          <p:cNvPicPr>
            <a:picLocks noChangeAspect="1"/>
          </p:cNvPicPr>
          <p:nvPr/>
        </p:nvPicPr>
        <p:blipFill>
          <a:blip r:embed="rId2"/>
          <a:stretch>
            <a:fillRect/>
          </a:stretch>
        </p:blipFill>
        <p:spPr>
          <a:xfrm>
            <a:off x="274320" y="4828032"/>
            <a:ext cx="559333" cy="169164"/>
          </a:xfrm>
          <a:prstGeom prst="rect">
            <a:avLst/>
          </a:prstGeom>
        </p:spPr>
      </p:pic>
      <p:pic>
        <p:nvPicPr>
          <p:cNvPr id="6" name="Picture 5" descr="aberdeen_logo.png"/>
          <p:cNvPicPr>
            <a:picLocks noChangeAspect="1"/>
          </p:cNvPicPr>
          <p:nvPr/>
        </p:nvPicPr>
        <p:blipFill>
          <a:blip r:embed="rId3"/>
          <a:stretch>
            <a:fillRect/>
          </a:stretch>
        </p:blipFill>
        <p:spPr>
          <a:xfrm>
            <a:off x="7818120" y="4791456"/>
            <a:ext cx="868680" cy="195856"/>
          </a:xfrm>
          <a:prstGeom prst="rect">
            <a:avLst/>
          </a:prstGeom>
        </p:spPr>
      </p:pic>
      <p:sp>
        <p:nvSpPr>
          <p:cNvPr id="7" name="TextBox 6"/>
          <p:cNvSpPr txBox="1"/>
          <p:nvPr/>
        </p:nvSpPr>
        <p:spPr>
          <a:xfrm>
            <a:off x="2103120" y="4846320"/>
            <a:ext cx="5577840" cy="182880"/>
          </a:xfrm>
          <a:prstGeom prst="rect">
            <a:avLst/>
          </a:prstGeom>
          <a:noFill/>
        </p:spPr>
        <p:txBody>
          <a:bodyPr wrap="square" lIns="45720" rIns="45720" anchor="t">
            <a:spAutoFit/>
          </a:bodyPr>
          <a:lstStyle/>
          <a:p>
            <a:pPr algn="ctr">
              <a:spcBef>
                <a:spcPts val="0"/>
              </a:spcBef>
              <a:spcAft>
                <a:spcPts val="0"/>
              </a:spcAft>
            </a:pPr>
            <a:r>
              <a:rPr sz="700" b="1" i="0">
                <a:solidFill>
                  <a:srgbClr val="5F5F5F"/>
                </a:solidFill>
                <a:latin typeface="Poppins"/>
              </a:rPr>
              <a:t>PROVISIONAL — PENDING REVIEW</a:t>
            </a:r>
            <a:r>
              <a:rPr sz="700" b="0" i="0">
                <a:solidFill>
                  <a:srgbClr val="5F5F5F"/>
                </a:solidFill>
                <a:latin typeface="Poppins"/>
              </a:rPr>
              <a:t>   ·   CONFIDENTIAL  ·  Aberdeen Advisors  ·  2026</a:t>
            </a:r>
          </a:p>
        </p:txBody>
      </p:sp>
      <p:sp>
        <p:nvSpPr>
          <p:cNvPr id="8" name="TextBox 7"/>
          <p:cNvSpPr txBox="1"/>
          <p:nvPr/>
        </p:nvSpPr>
        <p:spPr>
          <a:xfrm>
            <a:off x="8686800" y="4828032"/>
            <a:ext cx="320040" cy="182880"/>
          </a:xfrm>
          <a:prstGeom prst="rect">
            <a:avLst/>
          </a:prstGeom>
          <a:noFill/>
        </p:spPr>
        <p:txBody>
          <a:bodyPr wrap="square" lIns="45720" rIns="45720" anchor="t">
            <a:spAutoFit/>
          </a:bodyPr>
          <a:lstStyle/>
          <a:p>
            <a:pPr algn="r">
              <a:spcBef>
                <a:spcPts val="0"/>
              </a:spcBef>
              <a:spcAft>
                <a:spcPts val="0"/>
              </a:spcAft>
            </a:pPr>
            <a:r>
              <a:rPr sz="800" b="0" i="0">
                <a:solidFill>
                  <a:srgbClr val="5F5F5F"/>
                </a:solidFill>
                <a:latin typeface="Poppins"/>
              </a:rPr>
              <a:t>2</a:t>
            </a:r>
          </a:p>
        </p:txBody>
      </p:sp>
      <p:sp>
        <p:nvSpPr>
          <p:cNvPr id="9" name="Oval 8"/>
          <p:cNvSpPr/>
          <p:nvPr/>
        </p:nvSpPr>
        <p:spPr>
          <a:xfrm>
            <a:off x="274320" y="1170432"/>
            <a:ext cx="310896" cy="310896"/>
          </a:xfrm>
          <a:prstGeom prst="ellipse">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Poppins"/>
              </a:rPr>
              <a:t>1</a:t>
            </a:r>
          </a:p>
        </p:txBody>
      </p:sp>
      <p:sp>
        <p:nvSpPr>
          <p:cNvPr id="10" name="TextBox 9"/>
          <p:cNvSpPr txBox="1"/>
          <p:nvPr/>
        </p:nvSpPr>
        <p:spPr>
          <a:xfrm>
            <a:off x="713232" y="1152144"/>
            <a:ext cx="5897880" cy="256032"/>
          </a:xfrm>
          <a:prstGeom prst="rect">
            <a:avLst/>
          </a:prstGeom>
          <a:noFill/>
        </p:spPr>
        <p:txBody>
          <a:bodyPr wrap="square" lIns="45720" rIns="45720" anchor="t">
            <a:spAutoFit/>
          </a:bodyPr>
          <a:lstStyle/>
          <a:p>
            <a:pPr algn="l">
              <a:spcBef>
                <a:spcPts val="0"/>
              </a:spcBef>
              <a:spcAft>
                <a:spcPts val="0"/>
              </a:spcAft>
            </a:pPr>
            <a:r>
              <a:rPr sz="1300" b="1" i="0">
                <a:solidFill>
                  <a:srgbClr val="09375F"/>
                </a:solidFill>
                <a:latin typeface="Poppins"/>
              </a:rPr>
              <a:t>Two portfolio moves inside one quarter</a:t>
            </a:r>
          </a:p>
        </p:txBody>
      </p:sp>
      <p:sp>
        <p:nvSpPr>
          <p:cNvPr id="11" name="TextBox 10"/>
          <p:cNvSpPr txBox="1"/>
          <p:nvPr/>
        </p:nvSpPr>
        <p:spPr>
          <a:xfrm>
            <a:off x="713232" y="1408176"/>
            <a:ext cx="5897880" cy="420624"/>
          </a:xfrm>
          <a:prstGeom prst="rect">
            <a:avLst/>
          </a:prstGeom>
          <a:noFill/>
        </p:spPr>
        <p:txBody>
          <a:bodyPr wrap="square" lIns="45720" rIns="45720" anchor="t">
            <a:spAutoFit/>
          </a:bodyPr>
          <a:lstStyle/>
          <a:p>
            <a:pPr algn="l">
              <a:spcBef>
                <a:spcPts val="0"/>
              </a:spcBef>
              <a:spcAft>
                <a:spcPts val="0"/>
              </a:spcAft>
            </a:pPr>
            <a:r>
              <a:rPr sz="1000" b="0" i="0">
                <a:solidFill>
                  <a:srgbClr val="404040"/>
                </a:solidFill>
                <a:latin typeface="Poppins"/>
              </a:rPr>
              <a:t>Ramping the recent acquisition of Dow adhesives while the divestment of small plastic additives businesses completed on 1 July.</a:t>
            </a:r>
          </a:p>
        </p:txBody>
      </p:sp>
      <p:sp>
        <p:nvSpPr>
          <p:cNvPr id="12" name="TextBox 11"/>
          <p:cNvSpPr txBox="1"/>
          <p:nvPr/>
        </p:nvSpPr>
        <p:spPr>
          <a:xfrm>
            <a:off x="713232" y="1828800"/>
            <a:ext cx="5897880" cy="310896"/>
          </a:xfrm>
          <a:prstGeom prst="rect">
            <a:avLst/>
          </a:prstGeom>
          <a:noFill/>
        </p:spPr>
        <p:txBody>
          <a:bodyPr wrap="square" lIns="45720" rIns="45720" anchor="t">
            <a:spAutoFit/>
          </a:bodyPr>
          <a:lstStyle/>
          <a:p>
            <a:pPr algn="l">
              <a:spcBef>
                <a:spcPts val="0"/>
              </a:spcBef>
              <a:spcAft>
                <a:spcPts val="0"/>
              </a:spcAft>
            </a:pPr>
            <a:r>
              <a:rPr sz="950" b="0" i="0">
                <a:solidFill>
                  <a:srgbClr val="5F5F5F"/>
                </a:solidFill>
                <a:latin typeface="Poppins"/>
              </a:rPr>
              <a:t>Offering:  </a:t>
            </a:r>
            <a:r>
              <a:rPr sz="950" b="1" i="0">
                <a:solidFill>
                  <a:srgbClr val="03CBFF"/>
                </a:solidFill>
                <a:latin typeface="Poppins"/>
              </a:rPr>
              <a:t>M&amp;A Enablement</a:t>
            </a:r>
          </a:p>
        </p:txBody>
      </p:sp>
      <p:sp>
        <p:nvSpPr>
          <p:cNvPr id="13" name="Rectangle 12"/>
          <p:cNvSpPr/>
          <p:nvPr/>
        </p:nvSpPr>
        <p:spPr>
          <a:xfrm>
            <a:off x="6766560" y="1188720"/>
            <a:ext cx="2011680" cy="237744"/>
          </a:xfrm>
          <a:prstGeom prst="rect">
            <a:avLst/>
          </a:prstGeom>
          <a:noFill/>
          <a:ln w="12700">
            <a:solidFill>
              <a:srgbClr val="00A67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sz="800" b="1">
                <a:solidFill>
                  <a:srgbClr val="00A676"/>
                </a:solidFill>
                <a:latin typeface="Poppins"/>
              </a:rPr>
              <a:t>Proof: Strong</a:t>
            </a:r>
          </a:p>
        </p:txBody>
      </p:sp>
      <p:cxnSp>
        <p:nvCxnSpPr>
          <p:cNvPr id="14" name="Connector 13"/>
          <p:cNvCxnSpPr/>
          <p:nvPr/>
        </p:nvCxnSpPr>
        <p:spPr>
          <a:xfrm>
            <a:off x="274320" y="2231136"/>
            <a:ext cx="8503920" cy="0"/>
          </a:xfrm>
          <a:prstGeom prst="line">
            <a:avLst/>
          </a:prstGeom>
          <a:ln w="9525">
            <a:solidFill>
              <a:srgbClr val="D1D4DD"/>
            </a:solidFill>
            <a:prstDash val="dash"/>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274320" y="2340864"/>
            <a:ext cx="310896" cy="310896"/>
          </a:xfrm>
          <a:prstGeom prst="ellipse">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Poppins"/>
              </a:rPr>
              <a:t>2</a:t>
            </a:r>
          </a:p>
        </p:txBody>
      </p:sp>
      <p:sp>
        <p:nvSpPr>
          <p:cNvPr id="16" name="TextBox 15"/>
          <p:cNvSpPr txBox="1"/>
          <p:nvPr/>
        </p:nvSpPr>
        <p:spPr>
          <a:xfrm>
            <a:off x="713232" y="2322576"/>
            <a:ext cx="5897880" cy="256032"/>
          </a:xfrm>
          <a:prstGeom prst="rect">
            <a:avLst/>
          </a:prstGeom>
          <a:noFill/>
        </p:spPr>
        <p:txBody>
          <a:bodyPr wrap="square" lIns="45720" rIns="45720" anchor="t">
            <a:spAutoFit/>
          </a:bodyPr>
          <a:lstStyle/>
          <a:p>
            <a:pPr algn="l">
              <a:spcBef>
                <a:spcPts val="0"/>
              </a:spcBef>
              <a:spcAft>
                <a:spcPts val="0"/>
              </a:spcAft>
            </a:pPr>
            <a:r>
              <a:rPr sz="1300" b="1" i="0">
                <a:solidFill>
                  <a:srgbClr val="09375F"/>
                </a:solidFill>
                <a:latin typeface="Poppins"/>
              </a:rPr>
              <a:t>Five major projects ramping against a fixed capital ceiling</a:t>
            </a:r>
          </a:p>
        </p:txBody>
      </p:sp>
      <p:sp>
        <p:nvSpPr>
          <p:cNvPr id="17" name="TextBox 16"/>
          <p:cNvSpPr txBox="1"/>
          <p:nvPr/>
        </p:nvSpPr>
        <p:spPr>
          <a:xfrm>
            <a:off x="713232" y="2578608"/>
            <a:ext cx="5897880" cy="420624"/>
          </a:xfrm>
          <a:prstGeom prst="rect">
            <a:avLst/>
          </a:prstGeom>
          <a:noFill/>
        </p:spPr>
        <p:txBody>
          <a:bodyPr wrap="square" lIns="45720" rIns="45720" anchor="t">
            <a:spAutoFit/>
          </a:bodyPr>
          <a:lstStyle/>
          <a:p>
            <a:pPr algn="l">
              <a:spcBef>
                <a:spcPts val="0"/>
              </a:spcBef>
              <a:spcAft>
                <a:spcPts val="0"/>
              </a:spcAft>
            </a:pPr>
            <a:r>
              <a:rPr sz="1000" b="0" i="0">
                <a:solidFill>
                  <a:srgbClr val="404040"/>
                </a:solidFill>
                <a:latin typeface="Poppins"/>
              </a:rPr>
              <a:t>Simultaneous ramp-up across five projects, inside a €600m capex limit for 2026.</a:t>
            </a:r>
          </a:p>
        </p:txBody>
      </p:sp>
      <p:sp>
        <p:nvSpPr>
          <p:cNvPr id="18" name="TextBox 17"/>
          <p:cNvSpPr txBox="1"/>
          <p:nvPr/>
        </p:nvSpPr>
        <p:spPr>
          <a:xfrm>
            <a:off x="713232" y="2999232"/>
            <a:ext cx="5897880" cy="310896"/>
          </a:xfrm>
          <a:prstGeom prst="rect">
            <a:avLst/>
          </a:prstGeom>
          <a:noFill/>
        </p:spPr>
        <p:txBody>
          <a:bodyPr wrap="square" lIns="45720" rIns="45720" anchor="t">
            <a:spAutoFit/>
          </a:bodyPr>
          <a:lstStyle/>
          <a:p>
            <a:pPr algn="l">
              <a:spcBef>
                <a:spcPts val="0"/>
              </a:spcBef>
              <a:spcAft>
                <a:spcPts val="0"/>
              </a:spcAft>
            </a:pPr>
            <a:r>
              <a:rPr sz="950" b="0" i="0">
                <a:solidFill>
                  <a:srgbClr val="5F5F5F"/>
                </a:solidFill>
                <a:latin typeface="Poppins"/>
              </a:rPr>
              <a:t>Offering:  </a:t>
            </a:r>
            <a:r>
              <a:rPr sz="950" b="1" i="0">
                <a:solidFill>
                  <a:srgbClr val="03CBFF"/>
                </a:solidFill>
                <a:latin typeface="Poppins"/>
              </a:rPr>
              <a:t>Large Program Assurance, Delivery, &amp; Change</a:t>
            </a:r>
          </a:p>
        </p:txBody>
      </p:sp>
      <p:sp>
        <p:nvSpPr>
          <p:cNvPr id="19" name="Rectangle 18"/>
          <p:cNvSpPr/>
          <p:nvPr/>
        </p:nvSpPr>
        <p:spPr>
          <a:xfrm>
            <a:off x="6766560" y="2359152"/>
            <a:ext cx="2011680" cy="237744"/>
          </a:xfrm>
          <a:prstGeom prst="rect">
            <a:avLst/>
          </a:prstGeom>
          <a:noFill/>
          <a:ln w="12700">
            <a:solidFill>
              <a:srgbClr val="00A67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sz="800" b="1">
                <a:solidFill>
                  <a:srgbClr val="00A676"/>
                </a:solidFill>
                <a:latin typeface="Poppins"/>
              </a:rPr>
              <a:t>Proof: Strong</a:t>
            </a:r>
          </a:p>
        </p:txBody>
      </p:sp>
      <p:cxnSp>
        <p:nvCxnSpPr>
          <p:cNvPr id="20" name="Connector 19"/>
          <p:cNvCxnSpPr/>
          <p:nvPr/>
        </p:nvCxnSpPr>
        <p:spPr>
          <a:xfrm>
            <a:off x="274320" y="3401568"/>
            <a:ext cx="8503920" cy="0"/>
          </a:xfrm>
          <a:prstGeom prst="line">
            <a:avLst/>
          </a:prstGeom>
          <a:ln w="9525">
            <a:solidFill>
              <a:srgbClr val="D1D4DD"/>
            </a:solidFill>
            <a:prstDash val="dash"/>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274320" y="3511296"/>
            <a:ext cx="310896" cy="310896"/>
          </a:xfrm>
          <a:prstGeom prst="ellipse">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Poppins"/>
              </a:rPr>
              <a:t>3</a:t>
            </a:r>
          </a:p>
        </p:txBody>
      </p:sp>
      <p:sp>
        <p:nvSpPr>
          <p:cNvPr id="22" name="TextBox 21"/>
          <p:cNvSpPr txBox="1"/>
          <p:nvPr/>
        </p:nvSpPr>
        <p:spPr>
          <a:xfrm>
            <a:off x="713232" y="3493008"/>
            <a:ext cx="5897880" cy="256032"/>
          </a:xfrm>
          <a:prstGeom prst="rect">
            <a:avLst/>
          </a:prstGeom>
          <a:noFill/>
        </p:spPr>
        <p:txBody>
          <a:bodyPr wrap="square" lIns="45720" rIns="45720" anchor="t">
            <a:spAutoFit/>
          </a:bodyPr>
          <a:lstStyle/>
          <a:p>
            <a:pPr algn="l">
              <a:spcBef>
                <a:spcPts val="0"/>
              </a:spcBef>
              <a:spcAft>
                <a:spcPts val="0"/>
              </a:spcAft>
            </a:pPr>
            <a:r>
              <a:rPr sz="1300" b="1" i="0">
                <a:solidFill>
                  <a:srgbClr val="09375F"/>
                </a:solidFill>
                <a:latin typeface="Poppins"/>
              </a:rPr>
              <a:t>Cost and cash discipline, including a two-site reorganization</a:t>
            </a:r>
          </a:p>
        </p:txBody>
      </p:sp>
      <p:sp>
        <p:nvSpPr>
          <p:cNvPr id="23" name="TextBox 22"/>
          <p:cNvSpPr txBox="1"/>
          <p:nvPr/>
        </p:nvSpPr>
        <p:spPr>
          <a:xfrm>
            <a:off x="713232" y="3749039"/>
            <a:ext cx="5897880" cy="420624"/>
          </a:xfrm>
          <a:prstGeom prst="rect">
            <a:avLst/>
          </a:prstGeom>
          <a:noFill/>
        </p:spPr>
        <p:txBody>
          <a:bodyPr wrap="square" lIns="45720" rIns="45720" anchor="t">
            <a:spAutoFit/>
          </a:bodyPr>
          <a:lstStyle/>
          <a:p>
            <a:pPr algn="l">
              <a:spcBef>
                <a:spcPts val="0"/>
              </a:spcBef>
              <a:spcAft>
                <a:spcPts val="0"/>
              </a:spcAft>
            </a:pPr>
            <a:r>
              <a:rPr sz="1000" b="0" i="0">
                <a:solidFill>
                  <a:srgbClr val="404040"/>
                </a:solidFill>
                <a:latin typeface="Poppins"/>
              </a:rPr>
              <a:t>An objective of offsetting fixed cost inflation while streamlining the organization, with cash allocation a stated focus.</a:t>
            </a:r>
          </a:p>
        </p:txBody>
      </p:sp>
      <p:sp>
        <p:nvSpPr>
          <p:cNvPr id="24" name="TextBox 23"/>
          <p:cNvSpPr txBox="1"/>
          <p:nvPr/>
        </p:nvSpPr>
        <p:spPr>
          <a:xfrm>
            <a:off x="713232" y="4169663"/>
            <a:ext cx="5897880" cy="310896"/>
          </a:xfrm>
          <a:prstGeom prst="rect">
            <a:avLst/>
          </a:prstGeom>
          <a:noFill/>
        </p:spPr>
        <p:txBody>
          <a:bodyPr wrap="square" lIns="45720" rIns="45720" anchor="t">
            <a:spAutoFit/>
          </a:bodyPr>
          <a:lstStyle/>
          <a:p>
            <a:pPr algn="l">
              <a:spcBef>
                <a:spcPts val="0"/>
              </a:spcBef>
              <a:spcAft>
                <a:spcPts val="0"/>
              </a:spcAft>
            </a:pPr>
            <a:r>
              <a:rPr sz="950" b="0" i="0">
                <a:solidFill>
                  <a:srgbClr val="5F5F5F"/>
                </a:solidFill>
                <a:latin typeface="Poppins"/>
              </a:rPr>
              <a:t>Offering:  </a:t>
            </a:r>
            <a:r>
              <a:rPr sz="950" b="1" i="0">
                <a:solidFill>
                  <a:srgbClr val="03CBFF"/>
                </a:solidFill>
                <a:latin typeface="Poppins"/>
              </a:rPr>
              <a:t>IT Financial Mgmt. &amp; Optimization · Financial Transparency · Organizational &amp; Operational Efficiency</a:t>
            </a:r>
          </a:p>
        </p:txBody>
      </p:sp>
      <p:sp>
        <p:nvSpPr>
          <p:cNvPr id="25" name="Rectangle 24"/>
          <p:cNvSpPr/>
          <p:nvPr/>
        </p:nvSpPr>
        <p:spPr>
          <a:xfrm>
            <a:off x="6766560" y="3529584"/>
            <a:ext cx="2011680" cy="237744"/>
          </a:xfrm>
          <a:prstGeom prst="rect">
            <a:avLst/>
          </a:prstGeom>
          <a:noFill/>
          <a:ln w="12700">
            <a:solidFill>
              <a:srgbClr val="F7CE0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sz="800" b="1">
                <a:solidFill>
                  <a:srgbClr val="09375F"/>
                </a:solidFill>
                <a:latin typeface="Poppins"/>
              </a:rPr>
              <a:t>Proof: Thin — capability only</a:t>
            </a:r>
          </a:p>
        </p:txBody>
      </p:sp>
      <p:sp>
        <p:nvSpPr>
          <p:cNvPr id="26" name="TextBox 25"/>
          <p:cNvSpPr txBox="1"/>
          <p:nvPr/>
        </p:nvSpPr>
        <p:spPr>
          <a:xfrm>
            <a:off x="274320" y="4590288"/>
            <a:ext cx="8503920" cy="201168"/>
          </a:xfrm>
          <a:prstGeom prst="rect">
            <a:avLst/>
          </a:prstGeom>
          <a:noFill/>
        </p:spPr>
        <p:txBody>
          <a:bodyPr wrap="square" lIns="45720" rIns="45720" anchor="t">
            <a:spAutoFit/>
          </a:bodyPr>
          <a:lstStyle/>
          <a:p>
            <a:pPr algn="l">
              <a:spcBef>
                <a:spcPts val="0"/>
              </a:spcBef>
              <a:spcAft>
                <a:spcPts val="0"/>
              </a:spcAft>
            </a:pPr>
            <a:r>
              <a:rPr sz="750" b="0" i="0">
                <a:solidFill>
                  <a:srgbClr val="5F5F5F"/>
                </a:solidFill>
                <a:latin typeface="Poppins"/>
              </a:rPr>
              <a:t>Proof ratings are Aberdeen's own credential assessment (AberdeenOfferings.md §10). Where proof is Thin, the capability is offered without implying a delivery history.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5720"/>
            <a:ext cx="9144000" cy="18288"/>
          </a:xfrm>
          <a:prstGeom prst="rect">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274320" y="201168"/>
            <a:ext cx="8595360" cy="402336"/>
          </a:xfrm>
          <a:prstGeom prst="rect">
            <a:avLst/>
          </a:prstGeom>
          <a:noFill/>
        </p:spPr>
        <p:txBody>
          <a:bodyPr wrap="square" lIns="45720" rIns="45720" anchor="t">
            <a:spAutoFit/>
          </a:bodyPr>
          <a:lstStyle/>
          <a:p>
            <a:pPr algn="l">
              <a:spcBef>
                <a:spcPts val="0"/>
              </a:spcBef>
              <a:spcAft>
                <a:spcPts val="0"/>
              </a:spcAft>
            </a:pPr>
            <a:r>
              <a:rPr sz="2400" b="1" i="0">
                <a:solidFill>
                  <a:srgbClr val="09375F"/>
                </a:solidFill>
                <a:latin typeface="Poppins"/>
              </a:rPr>
              <a:t>Aberdeen Advisors</a:t>
            </a:r>
          </a:p>
        </p:txBody>
      </p:sp>
      <p:pic>
        <p:nvPicPr>
          <p:cNvPr id="4" name="Picture 3" descr="arkema_logo.png"/>
          <p:cNvPicPr>
            <a:picLocks noChangeAspect="1"/>
          </p:cNvPicPr>
          <p:nvPr/>
        </p:nvPicPr>
        <p:blipFill>
          <a:blip r:embed="rId2"/>
          <a:stretch>
            <a:fillRect/>
          </a:stretch>
        </p:blipFill>
        <p:spPr>
          <a:xfrm>
            <a:off x="274320" y="4828032"/>
            <a:ext cx="559333" cy="169164"/>
          </a:xfrm>
          <a:prstGeom prst="rect">
            <a:avLst/>
          </a:prstGeom>
        </p:spPr>
      </p:pic>
      <p:pic>
        <p:nvPicPr>
          <p:cNvPr id="5" name="Picture 4" descr="aberdeen_logo.png"/>
          <p:cNvPicPr>
            <a:picLocks noChangeAspect="1"/>
          </p:cNvPicPr>
          <p:nvPr/>
        </p:nvPicPr>
        <p:blipFill>
          <a:blip r:embed="rId3"/>
          <a:stretch>
            <a:fillRect/>
          </a:stretch>
        </p:blipFill>
        <p:spPr>
          <a:xfrm>
            <a:off x="7818120" y="4791456"/>
            <a:ext cx="868680" cy="195856"/>
          </a:xfrm>
          <a:prstGeom prst="rect">
            <a:avLst/>
          </a:prstGeom>
        </p:spPr>
      </p:pic>
      <p:sp>
        <p:nvSpPr>
          <p:cNvPr id="6" name="TextBox 5"/>
          <p:cNvSpPr txBox="1"/>
          <p:nvPr/>
        </p:nvSpPr>
        <p:spPr>
          <a:xfrm>
            <a:off x="2103120" y="4846320"/>
            <a:ext cx="5577840" cy="182880"/>
          </a:xfrm>
          <a:prstGeom prst="rect">
            <a:avLst/>
          </a:prstGeom>
          <a:noFill/>
        </p:spPr>
        <p:txBody>
          <a:bodyPr wrap="square" lIns="45720" rIns="45720" anchor="t">
            <a:spAutoFit/>
          </a:bodyPr>
          <a:lstStyle/>
          <a:p>
            <a:pPr algn="ctr">
              <a:spcBef>
                <a:spcPts val="0"/>
              </a:spcBef>
              <a:spcAft>
                <a:spcPts val="0"/>
              </a:spcAft>
            </a:pPr>
            <a:r>
              <a:rPr sz="700" b="1" i="0">
                <a:solidFill>
                  <a:srgbClr val="5F5F5F"/>
                </a:solidFill>
                <a:latin typeface="Poppins"/>
              </a:rPr>
              <a:t>PROVISIONAL — PENDING REVIEW</a:t>
            </a:r>
            <a:r>
              <a:rPr sz="700" b="0" i="0">
                <a:solidFill>
                  <a:srgbClr val="5F5F5F"/>
                </a:solidFill>
                <a:latin typeface="Poppins"/>
              </a:rPr>
              <a:t>   ·   CONFIDENTIAL  ·  Aberdeen Advisors  ·  2026</a:t>
            </a:r>
          </a:p>
        </p:txBody>
      </p:sp>
      <p:sp>
        <p:nvSpPr>
          <p:cNvPr id="7" name="TextBox 6"/>
          <p:cNvSpPr txBox="1"/>
          <p:nvPr/>
        </p:nvSpPr>
        <p:spPr>
          <a:xfrm>
            <a:off x="8686800" y="4828032"/>
            <a:ext cx="320040" cy="182880"/>
          </a:xfrm>
          <a:prstGeom prst="rect">
            <a:avLst/>
          </a:prstGeom>
          <a:noFill/>
        </p:spPr>
        <p:txBody>
          <a:bodyPr wrap="square" lIns="45720" rIns="45720" anchor="t">
            <a:spAutoFit/>
          </a:bodyPr>
          <a:lstStyle/>
          <a:p>
            <a:pPr algn="r">
              <a:spcBef>
                <a:spcPts val="0"/>
              </a:spcBef>
              <a:spcAft>
                <a:spcPts val="0"/>
              </a:spcAft>
            </a:pPr>
            <a:r>
              <a:rPr sz="800" b="0" i="0">
                <a:solidFill>
                  <a:srgbClr val="5F5F5F"/>
                </a:solidFill>
                <a:latin typeface="Poppins"/>
              </a:rPr>
              <a:t>3</a:t>
            </a:r>
          </a:p>
        </p:txBody>
      </p:sp>
      <p:sp>
        <p:nvSpPr>
          <p:cNvPr id="8" name="TextBox 7"/>
          <p:cNvSpPr txBox="1"/>
          <p:nvPr/>
        </p:nvSpPr>
        <p:spPr>
          <a:xfrm>
            <a:off x="274320" y="621792"/>
            <a:ext cx="8595360" cy="457200"/>
          </a:xfrm>
          <a:prstGeom prst="rect">
            <a:avLst/>
          </a:prstGeom>
          <a:noFill/>
        </p:spPr>
        <p:txBody>
          <a:bodyPr wrap="square" lIns="45720" rIns="45720" anchor="t">
            <a:spAutoFit/>
          </a:bodyPr>
          <a:lstStyle/>
          <a:p>
            <a:pPr algn="l">
              <a:spcBef>
                <a:spcPts val="0"/>
              </a:spcBef>
              <a:spcAft>
                <a:spcPts val="0"/>
              </a:spcAft>
            </a:pPr>
            <a:r>
              <a:rPr sz="1150" b="0" i="0">
                <a:solidFill>
                  <a:srgbClr val="09375F"/>
                </a:solidFill>
                <a:latin typeface="Poppins"/>
              </a:rPr>
              <a:t>“We guide our clients through organizational, operational, and financial changes that come with technology transformation and modernization.”</a:t>
            </a:r>
          </a:p>
        </p:txBody>
      </p:sp>
      <p:sp>
        <p:nvSpPr>
          <p:cNvPr id="9" name="Rectangle 8"/>
          <p:cNvSpPr/>
          <p:nvPr/>
        </p:nvSpPr>
        <p:spPr>
          <a:xfrm>
            <a:off x="347472" y="1170432"/>
            <a:ext cx="3063240" cy="2487168"/>
          </a:xfrm>
          <a:prstGeom prst="rect">
            <a:avLst/>
          </a:prstGeom>
          <a:solidFill>
            <a:srgbClr val="FFFFFF"/>
          </a:solidFill>
          <a:ln w="9525">
            <a:solidFill>
              <a:srgbClr val="D1D4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75488" y="1243584"/>
            <a:ext cx="2834640" cy="237744"/>
          </a:xfrm>
          <a:prstGeom prst="rect">
            <a:avLst/>
          </a:prstGeom>
          <a:noFill/>
        </p:spPr>
        <p:txBody>
          <a:bodyPr wrap="square" lIns="45720" rIns="45720" anchor="t">
            <a:spAutoFit/>
          </a:bodyPr>
          <a:lstStyle/>
          <a:p>
            <a:pPr algn="l">
              <a:spcBef>
                <a:spcPts val="0"/>
              </a:spcBef>
              <a:spcAft>
                <a:spcPts val="0"/>
              </a:spcAft>
            </a:pPr>
            <a:r>
              <a:rPr sz="1200" b="1" i="0">
                <a:solidFill>
                  <a:srgbClr val="09375F"/>
                </a:solidFill>
                <a:latin typeface="Poppins"/>
              </a:rPr>
              <a:t>Six capabilities</a:t>
            </a:r>
          </a:p>
        </p:txBody>
      </p:sp>
      <p:cxnSp>
        <p:nvCxnSpPr>
          <p:cNvPr id="11" name="Connector 10"/>
          <p:cNvCxnSpPr/>
          <p:nvPr/>
        </p:nvCxnSpPr>
        <p:spPr>
          <a:xfrm>
            <a:off x="493776" y="1499616"/>
            <a:ext cx="1005840" cy="0"/>
          </a:xfrm>
          <a:prstGeom prst="line">
            <a:avLst/>
          </a:prstGeom>
          <a:ln w="12700">
            <a:solidFill>
              <a:srgbClr val="09375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1572768"/>
            <a:ext cx="2816352" cy="2011680"/>
          </a:xfrm>
          <a:prstGeom prst="rect">
            <a:avLst/>
          </a:prstGeom>
          <a:noFill/>
        </p:spPr>
        <p:txBody>
          <a:bodyPr wrap="square" lIns="45720" rIns="45720" anchor="t">
            <a:spAutoFit/>
          </a:bodyPr>
          <a:lstStyle/>
          <a:p>
            <a:pPr algn="l">
              <a:spcBef>
                <a:spcPts val="0"/>
              </a:spcBef>
              <a:spcAft>
                <a:spcPts val="600"/>
              </a:spcAft>
            </a:pPr>
            <a:r>
              <a:rPr sz="1000" b="1" i="0">
                <a:solidFill>
                  <a:srgbClr val="03C0C1"/>
                </a:solidFill>
                <a:latin typeface="Poppins"/>
              </a:rPr>
              <a:t>▪  </a:t>
            </a:r>
            <a:r>
              <a:rPr sz="1000" b="0" i="0">
                <a:solidFill>
                  <a:srgbClr val="404040"/>
                </a:solidFill>
                <a:latin typeface="Poppins"/>
              </a:rPr>
              <a:t>Strategy &amp; Transformation</a:t>
            </a:r>
          </a:p>
          <a:p>
            <a:pPr algn="l">
              <a:spcBef>
                <a:spcPts val="0"/>
              </a:spcBef>
              <a:spcAft>
                <a:spcPts val="600"/>
              </a:spcAft>
            </a:pPr>
            <a:r>
              <a:rPr sz="1000" b="1" i="0">
                <a:solidFill>
                  <a:srgbClr val="03C0C1"/>
                </a:solidFill>
                <a:latin typeface="Poppins"/>
              </a:rPr>
              <a:t>▪  </a:t>
            </a:r>
            <a:r>
              <a:rPr sz="1000" b="1" i="0">
                <a:solidFill>
                  <a:srgbClr val="03CBFF"/>
                </a:solidFill>
                <a:latin typeface="Poppins"/>
              </a:rPr>
              <a:t>Deal Enablement &amp; Growth</a:t>
            </a:r>
          </a:p>
          <a:p>
            <a:pPr algn="l">
              <a:spcBef>
                <a:spcPts val="0"/>
              </a:spcBef>
              <a:spcAft>
                <a:spcPts val="600"/>
              </a:spcAft>
            </a:pPr>
            <a:r>
              <a:rPr sz="1000" b="1" i="0">
                <a:solidFill>
                  <a:srgbClr val="03C0C1"/>
                </a:solidFill>
                <a:latin typeface="Poppins"/>
              </a:rPr>
              <a:t>▪  </a:t>
            </a:r>
            <a:r>
              <a:rPr sz="1000" b="1" i="0">
                <a:solidFill>
                  <a:srgbClr val="03CBFF"/>
                </a:solidFill>
                <a:latin typeface="Poppins"/>
              </a:rPr>
              <a:t>Organizational &amp; Operational Efficiency</a:t>
            </a:r>
          </a:p>
          <a:p>
            <a:pPr algn="l">
              <a:spcBef>
                <a:spcPts val="0"/>
              </a:spcBef>
              <a:spcAft>
                <a:spcPts val="600"/>
              </a:spcAft>
            </a:pPr>
            <a:r>
              <a:rPr sz="1000" b="1" i="0">
                <a:solidFill>
                  <a:srgbClr val="03C0C1"/>
                </a:solidFill>
                <a:latin typeface="Poppins"/>
              </a:rPr>
              <a:t>▪  </a:t>
            </a:r>
            <a:r>
              <a:rPr sz="1000" b="1" i="0">
                <a:solidFill>
                  <a:srgbClr val="03CBFF"/>
                </a:solidFill>
                <a:latin typeface="Poppins"/>
              </a:rPr>
              <a:t>Financial Transparency</a:t>
            </a:r>
          </a:p>
          <a:p>
            <a:pPr algn="l">
              <a:spcBef>
                <a:spcPts val="0"/>
              </a:spcBef>
              <a:spcAft>
                <a:spcPts val="600"/>
              </a:spcAft>
            </a:pPr>
            <a:r>
              <a:rPr sz="1000" b="1" i="0">
                <a:solidFill>
                  <a:srgbClr val="03C0C1"/>
                </a:solidFill>
                <a:latin typeface="Poppins"/>
              </a:rPr>
              <a:t>▪  </a:t>
            </a:r>
            <a:r>
              <a:rPr sz="1000" b="1" i="0">
                <a:solidFill>
                  <a:srgbClr val="03CBFF"/>
                </a:solidFill>
                <a:latin typeface="Poppins"/>
              </a:rPr>
              <a:t>Platform Implementation &amp; Modernization</a:t>
            </a:r>
          </a:p>
          <a:p>
            <a:pPr algn="l">
              <a:spcBef>
                <a:spcPts val="0"/>
              </a:spcBef>
              <a:spcAft>
                <a:spcPts val="600"/>
              </a:spcAft>
            </a:pPr>
            <a:r>
              <a:rPr sz="1000" b="1" i="0">
                <a:solidFill>
                  <a:srgbClr val="03C0C1"/>
                </a:solidFill>
                <a:latin typeface="Poppins"/>
              </a:rPr>
              <a:t>▪  </a:t>
            </a:r>
            <a:r>
              <a:rPr sz="1000" b="0" i="0">
                <a:solidFill>
                  <a:srgbClr val="404040"/>
                </a:solidFill>
                <a:latin typeface="Poppins"/>
              </a:rPr>
              <a:t>Product &amp; Application Services</a:t>
            </a:r>
          </a:p>
        </p:txBody>
      </p:sp>
      <p:sp>
        <p:nvSpPr>
          <p:cNvPr id="13" name="Oval 12"/>
          <p:cNvSpPr/>
          <p:nvPr/>
        </p:nvSpPr>
        <p:spPr>
          <a:xfrm>
            <a:off x="3822191" y="1901952"/>
            <a:ext cx="1481328" cy="1481328"/>
          </a:xfrm>
          <a:prstGeom prst="ellipse">
            <a:avLst/>
          </a:prstGeom>
          <a:solidFill>
            <a:srgbClr val="FFFFFF"/>
          </a:solidFill>
          <a:ln w="9525">
            <a:solidFill>
              <a:srgbClr val="D1D4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4" name="Picture 13" descr="aberdeen_logo.png"/>
          <p:cNvPicPr>
            <a:picLocks noChangeAspect="1"/>
          </p:cNvPicPr>
          <p:nvPr/>
        </p:nvPicPr>
        <p:blipFill>
          <a:blip r:embed="rId3"/>
          <a:stretch>
            <a:fillRect/>
          </a:stretch>
        </p:blipFill>
        <p:spPr>
          <a:xfrm>
            <a:off x="3950208" y="2514600"/>
            <a:ext cx="1234440" cy="278322"/>
          </a:xfrm>
          <a:prstGeom prst="rect">
            <a:avLst/>
          </a:prstGeom>
        </p:spPr>
      </p:pic>
      <p:cxnSp>
        <p:nvCxnSpPr>
          <p:cNvPr id="15" name="Connector 14"/>
          <p:cNvCxnSpPr/>
          <p:nvPr/>
        </p:nvCxnSpPr>
        <p:spPr>
          <a:xfrm>
            <a:off x="3410712" y="2642616"/>
            <a:ext cx="411479" cy="0"/>
          </a:xfrm>
          <a:prstGeom prst="line">
            <a:avLst/>
          </a:prstGeom>
          <a:ln w="12700">
            <a:solidFill>
              <a:srgbClr val="D1D4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303520" y="2642616"/>
            <a:ext cx="411480" cy="0"/>
          </a:xfrm>
          <a:prstGeom prst="line">
            <a:avLst/>
          </a:prstGeom>
          <a:ln w="12700">
            <a:solidFill>
              <a:srgbClr val="D1D4DD"/>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383280" y="2606040"/>
            <a:ext cx="73152" cy="73152"/>
          </a:xfrm>
          <a:prstGeom prst="ellipse">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5687568" y="2606040"/>
            <a:ext cx="73152" cy="73152"/>
          </a:xfrm>
          <a:prstGeom prst="ellipse">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15000" y="1170432"/>
            <a:ext cx="3081528" cy="2487168"/>
          </a:xfrm>
          <a:prstGeom prst="rect">
            <a:avLst/>
          </a:prstGeom>
          <a:solidFill>
            <a:srgbClr val="FFFFFF"/>
          </a:solidFill>
          <a:ln w="9525">
            <a:solidFill>
              <a:srgbClr val="D1D4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843016" y="1243584"/>
            <a:ext cx="2834640" cy="237744"/>
          </a:xfrm>
          <a:prstGeom prst="rect">
            <a:avLst/>
          </a:prstGeom>
          <a:noFill/>
        </p:spPr>
        <p:txBody>
          <a:bodyPr wrap="square" lIns="45720" rIns="45720" anchor="t">
            <a:spAutoFit/>
          </a:bodyPr>
          <a:lstStyle/>
          <a:p>
            <a:pPr algn="l">
              <a:spcBef>
                <a:spcPts val="0"/>
              </a:spcBef>
              <a:spcAft>
                <a:spcPts val="0"/>
              </a:spcAft>
            </a:pPr>
            <a:r>
              <a:rPr sz="1200" b="1" i="0">
                <a:solidFill>
                  <a:srgbClr val="09375F"/>
                </a:solidFill>
                <a:latin typeface="Poppins"/>
              </a:rPr>
              <a:t>Fourteen industries served</a:t>
            </a:r>
          </a:p>
        </p:txBody>
      </p:sp>
      <p:cxnSp>
        <p:nvCxnSpPr>
          <p:cNvPr id="21" name="Connector 20"/>
          <p:cNvCxnSpPr/>
          <p:nvPr/>
        </p:nvCxnSpPr>
        <p:spPr>
          <a:xfrm>
            <a:off x="5861304" y="1499616"/>
            <a:ext cx="1005840" cy="0"/>
          </a:xfrm>
          <a:prstGeom prst="line">
            <a:avLst/>
          </a:prstGeom>
          <a:ln w="12700">
            <a:solidFill>
              <a:srgbClr val="09375F"/>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43016" y="1572768"/>
            <a:ext cx="1389888" cy="2011680"/>
          </a:xfrm>
          <a:prstGeom prst="rect">
            <a:avLst/>
          </a:prstGeom>
          <a:noFill/>
        </p:spPr>
        <p:txBody>
          <a:bodyPr wrap="square" lIns="45720" rIns="45720" anchor="t">
            <a:spAutoFit/>
          </a:bodyPr>
          <a:lstStyle/>
          <a:p>
            <a:pPr algn="l">
              <a:spcBef>
                <a:spcPts val="0"/>
              </a:spcBef>
              <a:spcAft>
                <a:spcPts val="500"/>
              </a:spcAft>
            </a:pPr>
            <a:r>
              <a:rPr sz="900" b="1" i="0">
                <a:solidFill>
                  <a:srgbClr val="03C0C1"/>
                </a:solidFill>
                <a:latin typeface="Poppins"/>
              </a:rPr>
              <a:t>▪  </a:t>
            </a:r>
            <a:r>
              <a:rPr sz="900" b="0" i="0">
                <a:solidFill>
                  <a:srgbClr val="404040"/>
                </a:solidFill>
                <a:latin typeface="Poppins"/>
              </a:rPr>
              <a:t>Construction</a:t>
            </a:r>
          </a:p>
          <a:p>
            <a:pPr algn="l">
              <a:spcBef>
                <a:spcPts val="0"/>
              </a:spcBef>
              <a:spcAft>
                <a:spcPts val="500"/>
              </a:spcAft>
            </a:pPr>
            <a:r>
              <a:rPr sz="900" b="1" i="0">
                <a:solidFill>
                  <a:srgbClr val="03C0C1"/>
                </a:solidFill>
                <a:latin typeface="Poppins"/>
              </a:rPr>
              <a:t>▪  </a:t>
            </a:r>
            <a:r>
              <a:rPr sz="900" b="0" i="0">
                <a:solidFill>
                  <a:srgbClr val="404040"/>
                </a:solidFill>
                <a:latin typeface="Poppins"/>
              </a:rPr>
              <a:t>Consumer Products</a:t>
            </a:r>
          </a:p>
          <a:p>
            <a:pPr algn="l">
              <a:spcBef>
                <a:spcPts val="0"/>
              </a:spcBef>
              <a:spcAft>
                <a:spcPts val="500"/>
              </a:spcAft>
            </a:pPr>
            <a:r>
              <a:rPr sz="900" b="1" i="0">
                <a:solidFill>
                  <a:srgbClr val="03C0C1"/>
                </a:solidFill>
                <a:latin typeface="Poppins"/>
              </a:rPr>
              <a:t>▪  </a:t>
            </a:r>
            <a:r>
              <a:rPr sz="900" b="0" i="0">
                <a:solidFill>
                  <a:srgbClr val="404040"/>
                </a:solidFill>
                <a:latin typeface="Poppins"/>
              </a:rPr>
              <a:t>Education</a:t>
            </a:r>
          </a:p>
          <a:p>
            <a:pPr algn="l">
              <a:spcBef>
                <a:spcPts val="0"/>
              </a:spcBef>
              <a:spcAft>
                <a:spcPts val="500"/>
              </a:spcAft>
            </a:pPr>
            <a:r>
              <a:rPr sz="900" b="1" i="0">
                <a:solidFill>
                  <a:srgbClr val="03C0C1"/>
                </a:solidFill>
                <a:latin typeface="Poppins"/>
              </a:rPr>
              <a:t>▪  </a:t>
            </a:r>
            <a:r>
              <a:rPr sz="900" b="0" i="0">
                <a:solidFill>
                  <a:srgbClr val="404040"/>
                </a:solidFill>
                <a:latin typeface="Poppins"/>
              </a:rPr>
              <a:t>Financial Services</a:t>
            </a:r>
          </a:p>
          <a:p>
            <a:pPr algn="l">
              <a:spcBef>
                <a:spcPts val="0"/>
              </a:spcBef>
              <a:spcAft>
                <a:spcPts val="500"/>
              </a:spcAft>
            </a:pPr>
            <a:r>
              <a:rPr sz="900" b="1" i="0">
                <a:solidFill>
                  <a:srgbClr val="03C0C1"/>
                </a:solidFill>
                <a:latin typeface="Poppins"/>
              </a:rPr>
              <a:t>▪  </a:t>
            </a:r>
            <a:r>
              <a:rPr sz="900" b="0" i="0">
                <a:solidFill>
                  <a:srgbClr val="404040"/>
                </a:solidFill>
                <a:latin typeface="Poppins"/>
              </a:rPr>
              <a:t>Healthcare</a:t>
            </a:r>
          </a:p>
          <a:p>
            <a:pPr algn="l">
              <a:spcBef>
                <a:spcPts val="0"/>
              </a:spcBef>
              <a:spcAft>
                <a:spcPts val="500"/>
              </a:spcAft>
            </a:pPr>
            <a:r>
              <a:rPr sz="900" b="1" i="0">
                <a:solidFill>
                  <a:srgbClr val="03C0C1"/>
                </a:solidFill>
                <a:latin typeface="Poppins"/>
              </a:rPr>
              <a:t>▪  </a:t>
            </a:r>
            <a:r>
              <a:rPr sz="900" b="0" i="0">
                <a:solidFill>
                  <a:srgbClr val="404040"/>
                </a:solidFill>
                <a:latin typeface="Poppins"/>
              </a:rPr>
              <a:t>Infrastructure</a:t>
            </a:r>
          </a:p>
          <a:p>
            <a:pPr algn="l">
              <a:spcBef>
                <a:spcPts val="0"/>
              </a:spcBef>
              <a:spcAft>
                <a:spcPts val="500"/>
              </a:spcAft>
            </a:pPr>
            <a:r>
              <a:rPr sz="900" b="1" i="0">
                <a:solidFill>
                  <a:srgbClr val="03C0C1"/>
                </a:solidFill>
                <a:latin typeface="Poppins"/>
              </a:rPr>
              <a:t>▪  </a:t>
            </a:r>
            <a:r>
              <a:rPr sz="900" b="0" i="0">
                <a:solidFill>
                  <a:srgbClr val="404040"/>
                </a:solidFill>
                <a:latin typeface="Poppins"/>
              </a:rPr>
              <a:t>Life Sciences</a:t>
            </a:r>
          </a:p>
        </p:txBody>
      </p:sp>
      <p:sp>
        <p:nvSpPr>
          <p:cNvPr id="23" name="TextBox 22"/>
          <p:cNvSpPr txBox="1"/>
          <p:nvPr/>
        </p:nvSpPr>
        <p:spPr>
          <a:xfrm>
            <a:off x="7269479" y="1572768"/>
            <a:ext cx="1389888" cy="2011680"/>
          </a:xfrm>
          <a:prstGeom prst="rect">
            <a:avLst/>
          </a:prstGeom>
          <a:noFill/>
        </p:spPr>
        <p:txBody>
          <a:bodyPr wrap="square" lIns="45720" rIns="45720" anchor="t">
            <a:spAutoFit/>
          </a:bodyPr>
          <a:lstStyle/>
          <a:p>
            <a:pPr algn="l">
              <a:spcBef>
                <a:spcPts val="0"/>
              </a:spcBef>
              <a:spcAft>
                <a:spcPts val="500"/>
              </a:spcAft>
            </a:pPr>
            <a:r>
              <a:rPr sz="900" b="1" i="0">
                <a:solidFill>
                  <a:srgbClr val="03C0C1"/>
                </a:solidFill>
                <a:latin typeface="Poppins"/>
              </a:rPr>
              <a:t>▪  </a:t>
            </a:r>
            <a:r>
              <a:rPr sz="900" b="1" i="0">
                <a:solidFill>
                  <a:srgbClr val="03CBFF"/>
                </a:solidFill>
                <a:latin typeface="Poppins"/>
              </a:rPr>
              <a:t>Manufacturing</a:t>
            </a:r>
          </a:p>
          <a:p>
            <a:pPr algn="l">
              <a:spcBef>
                <a:spcPts val="0"/>
              </a:spcBef>
              <a:spcAft>
                <a:spcPts val="500"/>
              </a:spcAft>
            </a:pPr>
            <a:r>
              <a:rPr sz="900" b="1" i="0">
                <a:solidFill>
                  <a:srgbClr val="03C0C1"/>
                </a:solidFill>
                <a:latin typeface="Poppins"/>
              </a:rPr>
              <a:t>▪  </a:t>
            </a:r>
            <a:r>
              <a:rPr sz="900" b="0" i="0">
                <a:solidFill>
                  <a:srgbClr val="404040"/>
                </a:solidFill>
                <a:latin typeface="Poppins"/>
              </a:rPr>
              <a:t>Private Equity</a:t>
            </a:r>
          </a:p>
          <a:p>
            <a:pPr algn="l">
              <a:spcBef>
                <a:spcPts val="0"/>
              </a:spcBef>
              <a:spcAft>
                <a:spcPts val="500"/>
              </a:spcAft>
            </a:pPr>
            <a:r>
              <a:rPr sz="900" b="1" i="0">
                <a:solidFill>
                  <a:srgbClr val="03C0C1"/>
                </a:solidFill>
                <a:latin typeface="Poppins"/>
              </a:rPr>
              <a:t>▪  </a:t>
            </a:r>
            <a:r>
              <a:rPr sz="900" b="0" i="0">
                <a:solidFill>
                  <a:srgbClr val="404040"/>
                </a:solidFill>
                <a:latin typeface="Poppins"/>
              </a:rPr>
              <a:t>Public Sector</a:t>
            </a:r>
          </a:p>
          <a:p>
            <a:pPr algn="l">
              <a:spcBef>
                <a:spcPts val="0"/>
              </a:spcBef>
              <a:spcAft>
                <a:spcPts val="500"/>
              </a:spcAft>
            </a:pPr>
            <a:r>
              <a:rPr sz="900" b="1" i="0">
                <a:solidFill>
                  <a:srgbClr val="03C0C1"/>
                </a:solidFill>
                <a:latin typeface="Poppins"/>
              </a:rPr>
              <a:t>▪  </a:t>
            </a:r>
            <a:r>
              <a:rPr sz="900" b="0" i="0">
                <a:solidFill>
                  <a:srgbClr val="404040"/>
                </a:solidFill>
                <a:latin typeface="Poppins"/>
              </a:rPr>
              <a:t>Real Estate</a:t>
            </a:r>
          </a:p>
          <a:p>
            <a:pPr algn="l">
              <a:spcBef>
                <a:spcPts val="0"/>
              </a:spcBef>
              <a:spcAft>
                <a:spcPts val="500"/>
              </a:spcAft>
            </a:pPr>
            <a:r>
              <a:rPr sz="900" b="1" i="0">
                <a:solidFill>
                  <a:srgbClr val="03C0C1"/>
                </a:solidFill>
                <a:latin typeface="Poppins"/>
              </a:rPr>
              <a:t>▪  </a:t>
            </a:r>
            <a:r>
              <a:rPr sz="900" b="0" i="0">
                <a:solidFill>
                  <a:srgbClr val="404040"/>
                </a:solidFill>
                <a:latin typeface="Poppins"/>
              </a:rPr>
              <a:t>Retail</a:t>
            </a:r>
          </a:p>
          <a:p>
            <a:pPr algn="l">
              <a:spcBef>
                <a:spcPts val="0"/>
              </a:spcBef>
              <a:spcAft>
                <a:spcPts val="500"/>
              </a:spcAft>
            </a:pPr>
            <a:r>
              <a:rPr sz="900" b="1" i="0">
                <a:solidFill>
                  <a:srgbClr val="03C0C1"/>
                </a:solidFill>
                <a:latin typeface="Poppins"/>
              </a:rPr>
              <a:t>▪  </a:t>
            </a:r>
            <a:r>
              <a:rPr sz="900" b="0" i="0">
                <a:solidFill>
                  <a:srgbClr val="404040"/>
                </a:solidFill>
                <a:latin typeface="Poppins"/>
              </a:rPr>
              <a:t>Technology</a:t>
            </a:r>
          </a:p>
          <a:p>
            <a:pPr algn="l">
              <a:spcBef>
                <a:spcPts val="0"/>
              </a:spcBef>
              <a:spcAft>
                <a:spcPts val="500"/>
              </a:spcAft>
            </a:pPr>
            <a:r>
              <a:rPr sz="900" b="1" i="0">
                <a:solidFill>
                  <a:srgbClr val="03C0C1"/>
                </a:solidFill>
                <a:latin typeface="Poppins"/>
              </a:rPr>
              <a:t>▪  </a:t>
            </a:r>
            <a:r>
              <a:rPr sz="900" b="0" i="0">
                <a:solidFill>
                  <a:srgbClr val="404040"/>
                </a:solidFill>
                <a:latin typeface="Poppins"/>
              </a:rPr>
              <a:t>Transportation</a:t>
            </a:r>
          </a:p>
        </p:txBody>
      </p:sp>
      <p:sp>
        <p:nvSpPr>
          <p:cNvPr id="24" name="TextBox 23"/>
          <p:cNvSpPr txBox="1"/>
          <p:nvPr/>
        </p:nvSpPr>
        <p:spPr>
          <a:xfrm>
            <a:off x="347472" y="3749039"/>
            <a:ext cx="5120640" cy="274320"/>
          </a:xfrm>
          <a:prstGeom prst="rect">
            <a:avLst/>
          </a:prstGeom>
          <a:noFill/>
        </p:spPr>
        <p:txBody>
          <a:bodyPr wrap="square" lIns="45720" rIns="45720" anchor="t">
            <a:spAutoFit/>
          </a:bodyPr>
          <a:lstStyle/>
          <a:p>
            <a:pPr algn="l">
              <a:spcBef>
                <a:spcPts val="0"/>
              </a:spcBef>
              <a:spcAft>
                <a:spcPts val="0"/>
              </a:spcAft>
            </a:pPr>
            <a:r>
              <a:rPr sz="900" b="1" i="0">
                <a:solidFill>
                  <a:srgbClr val="03CBFF"/>
                </a:solidFill>
                <a:latin typeface="Poppins"/>
              </a:rPr>
              <a:t>Highlighted in cyan</a:t>
            </a:r>
            <a:r>
              <a:rPr sz="900" b="0" i="0">
                <a:solidFill>
                  <a:srgbClr val="404040"/>
                </a:solidFill>
                <a:latin typeface="Poppins"/>
              </a:rPr>
              <a:t>: the capabilities and the industry that Arkema's disclosed Q2 2026 pressures point to. The rest of the roster is shown, not deleted.</a:t>
            </a:r>
          </a:p>
        </p:txBody>
      </p:sp>
      <p:sp>
        <p:nvSpPr>
          <p:cNvPr id="25" name="TextBox 24"/>
          <p:cNvSpPr txBox="1"/>
          <p:nvPr/>
        </p:nvSpPr>
        <p:spPr>
          <a:xfrm>
            <a:off x="347472" y="4059936"/>
            <a:ext cx="8449056" cy="475488"/>
          </a:xfrm>
          <a:prstGeom prst="rect">
            <a:avLst/>
          </a:prstGeom>
          <a:noFill/>
        </p:spPr>
        <p:txBody>
          <a:bodyPr wrap="square" lIns="45720" rIns="45720" anchor="t">
            <a:spAutoFit/>
          </a:bodyPr>
          <a:lstStyle/>
          <a:p>
            <a:pPr algn="l">
              <a:spcBef>
                <a:spcPts val="0"/>
              </a:spcBef>
              <a:spcAft>
                <a:spcPts val="0"/>
              </a:spcAft>
            </a:pPr>
            <a:r>
              <a:rPr sz="750" b="0" i="0">
                <a:solidFill>
                  <a:srgbClr val="5F5F5F"/>
                </a:solidFill>
                <a:latin typeface="Poppins"/>
              </a:rPr>
              <a:t>Industry taxonomy is flagged rather than mapped: specialty chemicals reads as Manufacturing on this client-facing list, Manufacturing &amp; Industrial in the CRM vocabulary, and Energy &amp; Industrials in the CoE sector strategy. The three lists are not reconciled.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5720"/>
            <a:ext cx="9144000" cy="18288"/>
          </a:xfrm>
          <a:prstGeom prst="rect">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274320" y="201168"/>
            <a:ext cx="8595360" cy="402336"/>
          </a:xfrm>
          <a:prstGeom prst="rect">
            <a:avLst/>
          </a:prstGeom>
          <a:noFill/>
        </p:spPr>
        <p:txBody>
          <a:bodyPr wrap="square" lIns="45720" rIns="45720" anchor="t">
            <a:spAutoFit/>
          </a:bodyPr>
          <a:lstStyle/>
          <a:p>
            <a:pPr algn="l">
              <a:spcBef>
                <a:spcPts val="0"/>
              </a:spcBef>
              <a:spcAft>
                <a:spcPts val="0"/>
              </a:spcAft>
            </a:pPr>
            <a:r>
              <a:rPr sz="2400" b="1" i="0">
                <a:solidFill>
                  <a:srgbClr val="09375F"/>
                </a:solidFill>
                <a:latin typeface="Poppins"/>
              </a:rPr>
              <a:t>Five service areas</a:t>
            </a:r>
          </a:p>
        </p:txBody>
      </p:sp>
      <p:sp>
        <p:nvSpPr>
          <p:cNvPr id="4" name="TextBox 3"/>
          <p:cNvSpPr txBox="1"/>
          <p:nvPr/>
        </p:nvSpPr>
        <p:spPr>
          <a:xfrm>
            <a:off x="274320" y="621792"/>
            <a:ext cx="8595360" cy="365760"/>
          </a:xfrm>
          <a:prstGeom prst="rect">
            <a:avLst/>
          </a:prstGeom>
          <a:noFill/>
        </p:spPr>
        <p:txBody>
          <a:bodyPr wrap="square" lIns="45720" rIns="45720" anchor="t">
            <a:spAutoFit/>
          </a:bodyPr>
          <a:lstStyle/>
          <a:p>
            <a:pPr algn="l">
              <a:spcBef>
                <a:spcPts val="0"/>
              </a:spcBef>
              <a:spcAft>
                <a:spcPts val="0"/>
              </a:spcAft>
            </a:pPr>
            <a:r>
              <a:rPr sz="1200" b="0" i="0">
                <a:solidFill>
                  <a:srgbClr val="09375F"/>
                </a:solidFill>
                <a:latin typeface="Poppins"/>
              </a:rPr>
              <a:t>Aberdeen provides services from strategy to implementation to all industries.</a:t>
            </a:r>
          </a:p>
        </p:txBody>
      </p:sp>
      <p:pic>
        <p:nvPicPr>
          <p:cNvPr id="5" name="Picture 4" descr="arkema_logo.png"/>
          <p:cNvPicPr>
            <a:picLocks noChangeAspect="1"/>
          </p:cNvPicPr>
          <p:nvPr/>
        </p:nvPicPr>
        <p:blipFill>
          <a:blip r:embed="rId2"/>
          <a:stretch>
            <a:fillRect/>
          </a:stretch>
        </p:blipFill>
        <p:spPr>
          <a:xfrm>
            <a:off x="274320" y="4828032"/>
            <a:ext cx="559333" cy="169164"/>
          </a:xfrm>
          <a:prstGeom prst="rect">
            <a:avLst/>
          </a:prstGeom>
        </p:spPr>
      </p:pic>
      <p:pic>
        <p:nvPicPr>
          <p:cNvPr id="6" name="Picture 5" descr="aberdeen_logo.png"/>
          <p:cNvPicPr>
            <a:picLocks noChangeAspect="1"/>
          </p:cNvPicPr>
          <p:nvPr/>
        </p:nvPicPr>
        <p:blipFill>
          <a:blip r:embed="rId3"/>
          <a:stretch>
            <a:fillRect/>
          </a:stretch>
        </p:blipFill>
        <p:spPr>
          <a:xfrm>
            <a:off x="7818120" y="4791456"/>
            <a:ext cx="868680" cy="195856"/>
          </a:xfrm>
          <a:prstGeom prst="rect">
            <a:avLst/>
          </a:prstGeom>
        </p:spPr>
      </p:pic>
      <p:sp>
        <p:nvSpPr>
          <p:cNvPr id="7" name="TextBox 6"/>
          <p:cNvSpPr txBox="1"/>
          <p:nvPr/>
        </p:nvSpPr>
        <p:spPr>
          <a:xfrm>
            <a:off x="2103120" y="4846320"/>
            <a:ext cx="5577840" cy="182880"/>
          </a:xfrm>
          <a:prstGeom prst="rect">
            <a:avLst/>
          </a:prstGeom>
          <a:noFill/>
        </p:spPr>
        <p:txBody>
          <a:bodyPr wrap="square" lIns="45720" rIns="45720" anchor="t">
            <a:spAutoFit/>
          </a:bodyPr>
          <a:lstStyle/>
          <a:p>
            <a:pPr algn="ctr">
              <a:spcBef>
                <a:spcPts val="0"/>
              </a:spcBef>
              <a:spcAft>
                <a:spcPts val="0"/>
              </a:spcAft>
            </a:pPr>
            <a:r>
              <a:rPr sz="700" b="1" i="0">
                <a:solidFill>
                  <a:srgbClr val="5F5F5F"/>
                </a:solidFill>
                <a:latin typeface="Poppins"/>
              </a:rPr>
              <a:t>PROVISIONAL — PENDING REVIEW</a:t>
            </a:r>
            <a:r>
              <a:rPr sz="700" b="0" i="0">
                <a:solidFill>
                  <a:srgbClr val="5F5F5F"/>
                </a:solidFill>
                <a:latin typeface="Poppins"/>
              </a:rPr>
              <a:t>   ·   CONFIDENTIAL  ·  Aberdeen Advisors  ·  2026</a:t>
            </a:r>
          </a:p>
        </p:txBody>
      </p:sp>
      <p:sp>
        <p:nvSpPr>
          <p:cNvPr id="8" name="TextBox 7"/>
          <p:cNvSpPr txBox="1"/>
          <p:nvPr/>
        </p:nvSpPr>
        <p:spPr>
          <a:xfrm>
            <a:off x="8686800" y="4828032"/>
            <a:ext cx="320040" cy="182880"/>
          </a:xfrm>
          <a:prstGeom prst="rect">
            <a:avLst/>
          </a:prstGeom>
          <a:noFill/>
        </p:spPr>
        <p:txBody>
          <a:bodyPr wrap="square" lIns="45720" rIns="45720" anchor="t">
            <a:spAutoFit/>
          </a:bodyPr>
          <a:lstStyle/>
          <a:p>
            <a:pPr algn="r">
              <a:spcBef>
                <a:spcPts val="0"/>
              </a:spcBef>
              <a:spcAft>
                <a:spcPts val="0"/>
              </a:spcAft>
            </a:pPr>
            <a:r>
              <a:rPr sz="800" b="0" i="0">
                <a:solidFill>
                  <a:srgbClr val="5F5F5F"/>
                </a:solidFill>
                <a:latin typeface="Poppins"/>
              </a:rPr>
              <a:t>4</a:t>
            </a:r>
          </a:p>
        </p:txBody>
      </p:sp>
      <p:sp>
        <p:nvSpPr>
          <p:cNvPr id="9" name="Rectangle 8"/>
          <p:cNvSpPr/>
          <p:nvPr/>
        </p:nvSpPr>
        <p:spPr>
          <a:xfrm>
            <a:off x="274320" y="1042415"/>
            <a:ext cx="2770632" cy="914400"/>
          </a:xfrm>
          <a:prstGeom prst="rect">
            <a:avLst/>
          </a:prstGeom>
          <a:noFill/>
          <a:ln w="9525">
            <a:solidFill>
              <a:srgbClr val="0937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274320" y="1042415"/>
            <a:ext cx="2770632" cy="384048"/>
          </a:xfrm>
          <a:prstGeom prst="rect">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292608" y="1069848"/>
            <a:ext cx="2734056" cy="347472"/>
          </a:xfrm>
          <a:prstGeom prst="rect">
            <a:avLst/>
          </a:prstGeom>
          <a:noFill/>
        </p:spPr>
        <p:txBody>
          <a:bodyPr wrap="square" lIns="45720" rIns="45720" anchor="ctr">
            <a:spAutoFit/>
          </a:bodyPr>
          <a:lstStyle/>
          <a:p>
            <a:pPr algn="l">
              <a:spcBef>
                <a:spcPts val="0"/>
              </a:spcBef>
              <a:spcAft>
                <a:spcPts val="0"/>
              </a:spcAft>
            </a:pPr>
            <a:r>
              <a:rPr sz="850" b="1" i="0">
                <a:solidFill>
                  <a:srgbClr val="FFFFFF"/>
                </a:solidFill>
                <a:latin typeface="Poppins"/>
              </a:rPr>
              <a:t>Our team of strategy and technology experts</a:t>
            </a:r>
          </a:p>
        </p:txBody>
      </p:sp>
      <p:sp>
        <p:nvSpPr>
          <p:cNvPr id="12" name="TextBox 11"/>
          <p:cNvSpPr txBox="1"/>
          <p:nvPr/>
        </p:nvSpPr>
        <p:spPr>
          <a:xfrm>
            <a:off x="292608" y="1444752"/>
            <a:ext cx="2734056" cy="493776"/>
          </a:xfrm>
          <a:prstGeom prst="rect">
            <a:avLst/>
          </a:prstGeom>
          <a:noFill/>
        </p:spPr>
        <p:txBody>
          <a:bodyPr wrap="square" lIns="45720" rIns="45720" anchor="t">
            <a:spAutoFit/>
          </a:bodyPr>
          <a:lstStyle/>
          <a:p>
            <a:pPr algn="l">
              <a:spcBef>
                <a:spcPts val="0"/>
              </a:spcBef>
              <a:spcAft>
                <a:spcPts val="0"/>
              </a:spcAft>
            </a:pPr>
            <a:r>
              <a:rPr sz="850" b="0" i="0">
                <a:solidFill>
                  <a:srgbClr val="404040"/>
                </a:solidFill>
                <a:latin typeface="Poppins"/>
              </a:rPr>
              <a:t>250+ consultants in 2026, up from 2 in 2019. Top 20 fastest growing tech services company in the US (Inc. 5000).</a:t>
            </a:r>
          </a:p>
        </p:txBody>
      </p:sp>
      <p:sp>
        <p:nvSpPr>
          <p:cNvPr id="13" name="Rectangle 12"/>
          <p:cNvSpPr/>
          <p:nvPr/>
        </p:nvSpPr>
        <p:spPr>
          <a:xfrm>
            <a:off x="3186683" y="1042415"/>
            <a:ext cx="2770632" cy="914400"/>
          </a:xfrm>
          <a:prstGeom prst="rect">
            <a:avLst/>
          </a:prstGeom>
          <a:noFill/>
          <a:ln w="9525">
            <a:solidFill>
              <a:srgbClr val="0937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186683" y="1042415"/>
            <a:ext cx="2770632" cy="384048"/>
          </a:xfrm>
          <a:prstGeom prst="rect">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04971" y="1069848"/>
            <a:ext cx="2734056" cy="347472"/>
          </a:xfrm>
          <a:prstGeom prst="rect">
            <a:avLst/>
          </a:prstGeom>
          <a:noFill/>
        </p:spPr>
        <p:txBody>
          <a:bodyPr wrap="square" lIns="45720" rIns="45720" anchor="ctr">
            <a:spAutoFit/>
          </a:bodyPr>
          <a:lstStyle/>
          <a:p>
            <a:pPr algn="l">
              <a:spcBef>
                <a:spcPts val="0"/>
              </a:spcBef>
              <a:spcAft>
                <a:spcPts val="0"/>
              </a:spcAft>
            </a:pPr>
            <a:r>
              <a:rPr sz="850" b="1" i="0">
                <a:solidFill>
                  <a:srgbClr val="FFFFFF"/>
                </a:solidFill>
                <a:latin typeface="Poppins"/>
              </a:rPr>
              <a:t>…provides services from strategy to implementation</a:t>
            </a:r>
          </a:p>
        </p:txBody>
      </p:sp>
      <p:sp>
        <p:nvSpPr>
          <p:cNvPr id="16" name="TextBox 15"/>
          <p:cNvSpPr txBox="1"/>
          <p:nvPr/>
        </p:nvSpPr>
        <p:spPr>
          <a:xfrm>
            <a:off x="3204971" y="1444752"/>
            <a:ext cx="2734056" cy="493776"/>
          </a:xfrm>
          <a:prstGeom prst="rect">
            <a:avLst/>
          </a:prstGeom>
          <a:noFill/>
        </p:spPr>
        <p:txBody>
          <a:bodyPr wrap="square" lIns="45720" rIns="45720" anchor="t">
            <a:spAutoFit/>
          </a:bodyPr>
          <a:lstStyle/>
          <a:p>
            <a:pPr algn="l">
              <a:spcBef>
                <a:spcPts val="0"/>
              </a:spcBef>
              <a:spcAft>
                <a:spcPts val="0"/>
              </a:spcAft>
            </a:pPr>
            <a:r>
              <a:rPr sz="850" b="0" i="0">
                <a:solidFill>
                  <a:srgbClr val="404040"/>
                </a:solidFill>
                <a:latin typeface="Poppins"/>
              </a:rPr>
              <a:t>Virtual-first workforce headquartered in Chicago, with offshore development and engineering in Hyderabad, India.</a:t>
            </a:r>
          </a:p>
        </p:txBody>
      </p:sp>
      <p:sp>
        <p:nvSpPr>
          <p:cNvPr id="17" name="Rectangle 16"/>
          <p:cNvSpPr/>
          <p:nvPr/>
        </p:nvSpPr>
        <p:spPr>
          <a:xfrm>
            <a:off x="6099047" y="1042415"/>
            <a:ext cx="2770632" cy="914400"/>
          </a:xfrm>
          <a:prstGeom prst="rect">
            <a:avLst/>
          </a:prstGeom>
          <a:noFill/>
          <a:ln w="9525">
            <a:solidFill>
              <a:srgbClr val="0937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099047" y="1042415"/>
            <a:ext cx="2770632" cy="384048"/>
          </a:xfrm>
          <a:prstGeom prst="rect">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117335" y="1069848"/>
            <a:ext cx="2734056" cy="347472"/>
          </a:xfrm>
          <a:prstGeom prst="rect">
            <a:avLst/>
          </a:prstGeom>
          <a:noFill/>
        </p:spPr>
        <p:txBody>
          <a:bodyPr wrap="square" lIns="45720" rIns="45720" anchor="ctr">
            <a:spAutoFit/>
          </a:bodyPr>
          <a:lstStyle/>
          <a:p>
            <a:pPr algn="l">
              <a:spcBef>
                <a:spcPts val="0"/>
              </a:spcBef>
              <a:spcAft>
                <a:spcPts val="0"/>
              </a:spcAft>
            </a:pPr>
            <a:r>
              <a:rPr sz="850" b="1" i="0">
                <a:solidFill>
                  <a:srgbClr val="FFFFFF"/>
                </a:solidFill>
                <a:latin typeface="Poppins"/>
              </a:rPr>
              <a:t>…advising Fortune 500 clients, PE firms and leading companies</a:t>
            </a:r>
          </a:p>
        </p:txBody>
      </p:sp>
      <p:sp>
        <p:nvSpPr>
          <p:cNvPr id="20" name="TextBox 19"/>
          <p:cNvSpPr txBox="1"/>
          <p:nvPr/>
        </p:nvSpPr>
        <p:spPr>
          <a:xfrm>
            <a:off x="6117335" y="1444752"/>
            <a:ext cx="2734056" cy="493776"/>
          </a:xfrm>
          <a:prstGeom prst="rect">
            <a:avLst/>
          </a:prstGeom>
          <a:noFill/>
        </p:spPr>
        <p:txBody>
          <a:bodyPr wrap="square" lIns="45720" rIns="45720" anchor="t">
            <a:spAutoFit/>
          </a:bodyPr>
          <a:lstStyle/>
          <a:p>
            <a:pPr algn="l">
              <a:spcBef>
                <a:spcPts val="0"/>
              </a:spcBef>
              <a:spcAft>
                <a:spcPts val="0"/>
              </a:spcAft>
            </a:pPr>
            <a:r>
              <a:rPr sz="850" b="0" i="0">
                <a:solidFill>
                  <a:srgbClr val="404040"/>
                </a:solidFill>
                <a:latin typeface="Poppins"/>
              </a:rPr>
              <a:t>Majority of consultants from Deloitte, BCG, Accenture and SAP, alongside sophisticated industry operators.</a:t>
            </a:r>
          </a:p>
        </p:txBody>
      </p:sp>
      <p:sp>
        <p:nvSpPr>
          <p:cNvPr id="21" name="TextBox 20"/>
          <p:cNvSpPr txBox="1"/>
          <p:nvPr/>
        </p:nvSpPr>
        <p:spPr>
          <a:xfrm>
            <a:off x="274320" y="2139696"/>
            <a:ext cx="3611880" cy="219456"/>
          </a:xfrm>
          <a:prstGeom prst="rect">
            <a:avLst/>
          </a:prstGeom>
          <a:noFill/>
        </p:spPr>
        <p:txBody>
          <a:bodyPr wrap="square" lIns="45720" rIns="45720" anchor="t">
            <a:spAutoFit/>
          </a:bodyPr>
          <a:lstStyle/>
          <a:p>
            <a:pPr algn="l">
              <a:spcBef>
                <a:spcPts val="0"/>
              </a:spcBef>
              <a:spcAft>
                <a:spcPts val="0"/>
              </a:spcAft>
            </a:pPr>
            <a:r>
              <a:rPr sz="1050" b="1" i="0">
                <a:solidFill>
                  <a:srgbClr val="09375F"/>
                </a:solidFill>
                <a:latin typeface="Poppins"/>
              </a:rPr>
              <a:t>Technology Strategy &amp; Operations</a:t>
            </a:r>
          </a:p>
        </p:txBody>
      </p:sp>
      <p:sp>
        <p:nvSpPr>
          <p:cNvPr id="22" name="TextBox 21"/>
          <p:cNvSpPr txBox="1"/>
          <p:nvPr/>
        </p:nvSpPr>
        <p:spPr>
          <a:xfrm>
            <a:off x="3840480" y="2167127"/>
            <a:ext cx="3474720" cy="219456"/>
          </a:xfrm>
          <a:prstGeom prst="rect">
            <a:avLst/>
          </a:prstGeom>
          <a:noFill/>
        </p:spPr>
        <p:txBody>
          <a:bodyPr wrap="square" lIns="45720" rIns="45720" anchor="t">
            <a:spAutoFit/>
          </a:bodyPr>
          <a:lstStyle/>
          <a:p>
            <a:pPr algn="l">
              <a:spcBef>
                <a:spcPts val="0"/>
              </a:spcBef>
              <a:spcAft>
                <a:spcPts val="0"/>
              </a:spcAft>
            </a:pPr>
            <a:r>
              <a:rPr sz="850" b="0" i="0">
                <a:solidFill>
                  <a:srgbClr val="404040"/>
                </a:solidFill>
                <a:latin typeface="Poppins"/>
              </a:rPr>
              <a:t>Strategic Planning · Product Mgmt. · Value Tracking</a:t>
            </a:r>
          </a:p>
        </p:txBody>
      </p:sp>
      <p:cxnSp>
        <p:nvCxnSpPr>
          <p:cNvPr id="23" name="Connector 22"/>
          <p:cNvCxnSpPr/>
          <p:nvPr/>
        </p:nvCxnSpPr>
        <p:spPr>
          <a:xfrm>
            <a:off x="274320" y="2395728"/>
            <a:ext cx="6903720" cy="0"/>
          </a:xfrm>
          <a:prstGeom prst="line">
            <a:avLst/>
          </a:prstGeom>
          <a:ln w="9525">
            <a:solidFill>
              <a:srgbClr val="D1D4DD"/>
            </a:solidFill>
            <a:prstDash val="sysDot"/>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74320" y="2468879"/>
            <a:ext cx="3611880" cy="219456"/>
          </a:xfrm>
          <a:prstGeom prst="rect">
            <a:avLst/>
          </a:prstGeom>
          <a:noFill/>
        </p:spPr>
        <p:txBody>
          <a:bodyPr wrap="square" lIns="45720" rIns="45720" anchor="t">
            <a:spAutoFit/>
          </a:bodyPr>
          <a:lstStyle/>
          <a:p>
            <a:pPr algn="l">
              <a:spcBef>
                <a:spcPts val="0"/>
              </a:spcBef>
              <a:spcAft>
                <a:spcPts val="0"/>
              </a:spcAft>
            </a:pPr>
            <a:r>
              <a:rPr sz="1050" b="1" i="0">
                <a:solidFill>
                  <a:srgbClr val="03CBFF"/>
                </a:solidFill>
                <a:latin typeface="Poppins"/>
              </a:rPr>
              <a:t>IT Financial Mgmt. &amp; Optimization</a:t>
            </a:r>
          </a:p>
        </p:txBody>
      </p:sp>
      <p:sp>
        <p:nvSpPr>
          <p:cNvPr id="25" name="TextBox 24"/>
          <p:cNvSpPr txBox="1"/>
          <p:nvPr/>
        </p:nvSpPr>
        <p:spPr>
          <a:xfrm>
            <a:off x="3840480" y="2496311"/>
            <a:ext cx="3474720" cy="219456"/>
          </a:xfrm>
          <a:prstGeom prst="rect">
            <a:avLst/>
          </a:prstGeom>
          <a:noFill/>
        </p:spPr>
        <p:txBody>
          <a:bodyPr wrap="square" lIns="45720" rIns="45720" anchor="t">
            <a:spAutoFit/>
          </a:bodyPr>
          <a:lstStyle/>
          <a:p>
            <a:pPr algn="l">
              <a:spcBef>
                <a:spcPts val="0"/>
              </a:spcBef>
              <a:spcAft>
                <a:spcPts val="0"/>
              </a:spcAft>
            </a:pPr>
            <a:r>
              <a:rPr sz="850" b="0" i="0">
                <a:solidFill>
                  <a:srgbClr val="404040"/>
                </a:solidFill>
                <a:latin typeface="Poppins"/>
              </a:rPr>
              <a:t>Cost Transparency · FP&amp;A · Cost Transformation</a:t>
            </a:r>
          </a:p>
        </p:txBody>
      </p:sp>
      <p:cxnSp>
        <p:nvCxnSpPr>
          <p:cNvPr id="26" name="Connector 25"/>
          <p:cNvCxnSpPr/>
          <p:nvPr/>
        </p:nvCxnSpPr>
        <p:spPr>
          <a:xfrm>
            <a:off x="274320" y="2724911"/>
            <a:ext cx="6903720" cy="0"/>
          </a:xfrm>
          <a:prstGeom prst="line">
            <a:avLst/>
          </a:prstGeom>
          <a:ln w="9525">
            <a:solidFill>
              <a:srgbClr val="D1D4DD"/>
            </a:solidFill>
            <a:prstDash val="sysDot"/>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74320" y="2798063"/>
            <a:ext cx="3611880" cy="219456"/>
          </a:xfrm>
          <a:prstGeom prst="rect">
            <a:avLst/>
          </a:prstGeom>
          <a:noFill/>
        </p:spPr>
        <p:txBody>
          <a:bodyPr wrap="square" lIns="45720" rIns="45720" anchor="t">
            <a:spAutoFit/>
          </a:bodyPr>
          <a:lstStyle/>
          <a:p>
            <a:pPr algn="l">
              <a:spcBef>
                <a:spcPts val="0"/>
              </a:spcBef>
              <a:spcAft>
                <a:spcPts val="0"/>
              </a:spcAft>
            </a:pPr>
            <a:r>
              <a:rPr sz="1050" b="1" i="0">
                <a:solidFill>
                  <a:srgbClr val="09375F"/>
                </a:solidFill>
                <a:latin typeface="Poppins"/>
              </a:rPr>
              <a:t>Technology Future-Proofing</a:t>
            </a:r>
          </a:p>
        </p:txBody>
      </p:sp>
      <p:sp>
        <p:nvSpPr>
          <p:cNvPr id="28" name="TextBox 27"/>
          <p:cNvSpPr txBox="1"/>
          <p:nvPr/>
        </p:nvSpPr>
        <p:spPr>
          <a:xfrm>
            <a:off x="3840480" y="2825495"/>
            <a:ext cx="3474720" cy="219456"/>
          </a:xfrm>
          <a:prstGeom prst="rect">
            <a:avLst/>
          </a:prstGeom>
          <a:noFill/>
        </p:spPr>
        <p:txBody>
          <a:bodyPr wrap="square" lIns="45720" rIns="45720" anchor="t">
            <a:spAutoFit/>
          </a:bodyPr>
          <a:lstStyle/>
          <a:p>
            <a:pPr algn="l">
              <a:spcBef>
                <a:spcPts val="0"/>
              </a:spcBef>
              <a:spcAft>
                <a:spcPts val="0"/>
              </a:spcAft>
            </a:pPr>
            <a:r>
              <a:rPr sz="850" b="0" i="0">
                <a:solidFill>
                  <a:srgbClr val="404040"/>
                </a:solidFill>
                <a:latin typeface="Poppins"/>
              </a:rPr>
              <a:t>AI &amp; Data Readiness · Governance · Transformation</a:t>
            </a:r>
          </a:p>
        </p:txBody>
      </p:sp>
      <p:cxnSp>
        <p:nvCxnSpPr>
          <p:cNvPr id="29" name="Connector 28"/>
          <p:cNvCxnSpPr/>
          <p:nvPr/>
        </p:nvCxnSpPr>
        <p:spPr>
          <a:xfrm>
            <a:off x="274320" y="3054096"/>
            <a:ext cx="6903720" cy="0"/>
          </a:xfrm>
          <a:prstGeom prst="line">
            <a:avLst/>
          </a:prstGeom>
          <a:ln w="9525">
            <a:solidFill>
              <a:srgbClr val="D1D4DD"/>
            </a:solidFill>
            <a:prstDash val="sysDot"/>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74320" y="3127247"/>
            <a:ext cx="3611880" cy="219456"/>
          </a:xfrm>
          <a:prstGeom prst="rect">
            <a:avLst/>
          </a:prstGeom>
          <a:noFill/>
        </p:spPr>
        <p:txBody>
          <a:bodyPr wrap="square" lIns="45720" rIns="45720" anchor="t">
            <a:spAutoFit/>
          </a:bodyPr>
          <a:lstStyle/>
          <a:p>
            <a:pPr algn="l">
              <a:spcBef>
                <a:spcPts val="0"/>
              </a:spcBef>
              <a:spcAft>
                <a:spcPts val="0"/>
              </a:spcAft>
            </a:pPr>
            <a:r>
              <a:rPr sz="1050" b="1" i="0">
                <a:solidFill>
                  <a:srgbClr val="03CBFF"/>
                </a:solidFill>
                <a:latin typeface="Poppins"/>
              </a:rPr>
              <a:t>Large Program Assurance, Delivery, &amp; Change</a:t>
            </a:r>
          </a:p>
        </p:txBody>
      </p:sp>
      <p:sp>
        <p:nvSpPr>
          <p:cNvPr id="31" name="TextBox 30"/>
          <p:cNvSpPr txBox="1"/>
          <p:nvPr/>
        </p:nvSpPr>
        <p:spPr>
          <a:xfrm>
            <a:off x="3840480" y="3154679"/>
            <a:ext cx="3474720" cy="219456"/>
          </a:xfrm>
          <a:prstGeom prst="rect">
            <a:avLst/>
          </a:prstGeom>
          <a:noFill/>
        </p:spPr>
        <p:txBody>
          <a:bodyPr wrap="square" lIns="45720" rIns="45720" anchor="t">
            <a:spAutoFit/>
          </a:bodyPr>
          <a:lstStyle/>
          <a:p>
            <a:pPr algn="l">
              <a:spcBef>
                <a:spcPts val="0"/>
              </a:spcBef>
              <a:spcAft>
                <a:spcPts val="0"/>
              </a:spcAft>
            </a:pPr>
            <a:r>
              <a:rPr sz="850" b="0" i="0">
                <a:solidFill>
                  <a:srgbClr val="404040"/>
                </a:solidFill>
                <a:latin typeface="Poppins"/>
              </a:rPr>
              <a:t>EHR · ERP · Digital Transformations</a:t>
            </a:r>
          </a:p>
        </p:txBody>
      </p:sp>
      <p:cxnSp>
        <p:nvCxnSpPr>
          <p:cNvPr id="32" name="Connector 31"/>
          <p:cNvCxnSpPr/>
          <p:nvPr/>
        </p:nvCxnSpPr>
        <p:spPr>
          <a:xfrm>
            <a:off x="274320" y="3383279"/>
            <a:ext cx="6903720" cy="0"/>
          </a:xfrm>
          <a:prstGeom prst="line">
            <a:avLst/>
          </a:prstGeom>
          <a:ln w="9525">
            <a:solidFill>
              <a:srgbClr val="D1D4DD"/>
            </a:solidFill>
            <a:prstDash val="sysDot"/>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74320" y="3456431"/>
            <a:ext cx="3611880" cy="219456"/>
          </a:xfrm>
          <a:prstGeom prst="rect">
            <a:avLst/>
          </a:prstGeom>
          <a:noFill/>
        </p:spPr>
        <p:txBody>
          <a:bodyPr wrap="square" lIns="45720" rIns="45720" anchor="t">
            <a:spAutoFit/>
          </a:bodyPr>
          <a:lstStyle/>
          <a:p>
            <a:pPr algn="l">
              <a:spcBef>
                <a:spcPts val="0"/>
              </a:spcBef>
              <a:spcAft>
                <a:spcPts val="0"/>
              </a:spcAft>
            </a:pPr>
            <a:r>
              <a:rPr sz="1050" b="1" i="0">
                <a:solidFill>
                  <a:srgbClr val="03CBFF"/>
                </a:solidFill>
                <a:latin typeface="Poppins"/>
              </a:rPr>
              <a:t>M&amp;A Enablement</a:t>
            </a:r>
          </a:p>
        </p:txBody>
      </p:sp>
      <p:sp>
        <p:nvSpPr>
          <p:cNvPr id="34" name="TextBox 33"/>
          <p:cNvSpPr txBox="1"/>
          <p:nvPr/>
        </p:nvSpPr>
        <p:spPr>
          <a:xfrm>
            <a:off x="3840480" y="3483863"/>
            <a:ext cx="3474720" cy="219456"/>
          </a:xfrm>
          <a:prstGeom prst="rect">
            <a:avLst/>
          </a:prstGeom>
          <a:noFill/>
        </p:spPr>
        <p:txBody>
          <a:bodyPr wrap="square" lIns="45720" rIns="45720" anchor="t">
            <a:spAutoFit/>
          </a:bodyPr>
          <a:lstStyle/>
          <a:p>
            <a:pPr algn="l">
              <a:spcBef>
                <a:spcPts val="0"/>
              </a:spcBef>
              <a:spcAft>
                <a:spcPts val="0"/>
              </a:spcAft>
            </a:pPr>
            <a:r>
              <a:rPr sz="850" b="0" i="0">
                <a:solidFill>
                  <a:srgbClr val="404040"/>
                </a:solidFill>
                <a:latin typeface="Poppins"/>
              </a:rPr>
              <a:t>IT Due Diligence · Integration Planning · Value Creation</a:t>
            </a:r>
          </a:p>
        </p:txBody>
      </p:sp>
      <p:cxnSp>
        <p:nvCxnSpPr>
          <p:cNvPr id="35" name="Connector 34"/>
          <p:cNvCxnSpPr/>
          <p:nvPr/>
        </p:nvCxnSpPr>
        <p:spPr>
          <a:xfrm>
            <a:off x="274320" y="3712463"/>
            <a:ext cx="6903720" cy="0"/>
          </a:xfrm>
          <a:prstGeom prst="line">
            <a:avLst/>
          </a:prstGeom>
          <a:ln w="9525">
            <a:solidFill>
              <a:srgbClr val="D1D4DD"/>
            </a:solidFill>
            <a:prstDash val="sysDot"/>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360920" y="2103120"/>
            <a:ext cx="265176" cy="1700784"/>
          </a:xfrm>
          <a:prstGeom prst="rect">
            <a:avLst/>
          </a:prstGeom>
          <a:solidFill>
            <a:srgbClr val="E7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vert="vert270"/>
          <a:lstStyle/>
          <a:p>
            <a:pPr algn="ctr"/>
            <a:r>
              <a:rPr sz="800" b="0">
                <a:solidFill>
                  <a:srgbClr val="09375F"/>
                </a:solidFill>
                <a:latin typeface="Poppins"/>
              </a:rPr>
              <a:t>Consumer</a:t>
            </a:r>
          </a:p>
        </p:txBody>
      </p:sp>
      <p:sp>
        <p:nvSpPr>
          <p:cNvPr id="37" name="Rectangle 36"/>
          <p:cNvSpPr/>
          <p:nvPr/>
        </p:nvSpPr>
        <p:spPr>
          <a:xfrm>
            <a:off x="7662672" y="2103120"/>
            <a:ext cx="265176" cy="1700784"/>
          </a:xfrm>
          <a:prstGeom prst="rect">
            <a:avLst/>
          </a:prstGeom>
          <a:solidFill>
            <a:srgbClr val="E7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vert="vert270"/>
          <a:lstStyle/>
          <a:p>
            <a:pPr algn="ctr"/>
            <a:r>
              <a:rPr sz="800" b="0">
                <a:solidFill>
                  <a:srgbClr val="09375F"/>
                </a:solidFill>
                <a:latin typeface="Poppins"/>
              </a:rPr>
              <a:t>Finance &amp; PE</a:t>
            </a:r>
          </a:p>
        </p:txBody>
      </p:sp>
      <p:sp>
        <p:nvSpPr>
          <p:cNvPr id="38" name="Rectangle 37"/>
          <p:cNvSpPr/>
          <p:nvPr/>
        </p:nvSpPr>
        <p:spPr>
          <a:xfrm>
            <a:off x="7964424" y="2103120"/>
            <a:ext cx="265176" cy="1700784"/>
          </a:xfrm>
          <a:prstGeom prst="rect">
            <a:avLst/>
          </a:prstGeom>
          <a:solidFill>
            <a:srgbClr val="E7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vert="vert270"/>
          <a:lstStyle/>
          <a:p>
            <a:pPr algn="ctr"/>
            <a:r>
              <a:rPr sz="800" b="0">
                <a:solidFill>
                  <a:srgbClr val="09375F"/>
                </a:solidFill>
                <a:latin typeface="Poppins"/>
              </a:rPr>
              <a:t>Construction</a:t>
            </a:r>
          </a:p>
        </p:txBody>
      </p:sp>
      <p:sp>
        <p:nvSpPr>
          <p:cNvPr id="39" name="Rectangle 38"/>
          <p:cNvSpPr/>
          <p:nvPr/>
        </p:nvSpPr>
        <p:spPr>
          <a:xfrm>
            <a:off x="8266176" y="2103120"/>
            <a:ext cx="265176" cy="1700784"/>
          </a:xfrm>
          <a:prstGeom prst="rect">
            <a:avLst/>
          </a:prstGeom>
          <a:solidFill>
            <a:srgbClr val="E7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vert="vert270"/>
          <a:lstStyle/>
          <a:p>
            <a:pPr algn="ctr"/>
            <a:r>
              <a:rPr sz="800" b="0">
                <a:solidFill>
                  <a:srgbClr val="09375F"/>
                </a:solidFill>
                <a:latin typeface="Poppins"/>
              </a:rPr>
              <a:t>Technology</a:t>
            </a:r>
          </a:p>
        </p:txBody>
      </p:sp>
      <p:sp>
        <p:nvSpPr>
          <p:cNvPr id="40" name="Rectangle 39"/>
          <p:cNvSpPr/>
          <p:nvPr/>
        </p:nvSpPr>
        <p:spPr>
          <a:xfrm>
            <a:off x="8567928" y="2103120"/>
            <a:ext cx="265176" cy="1700784"/>
          </a:xfrm>
          <a:prstGeom prst="rect">
            <a:avLst/>
          </a:prstGeom>
          <a:solidFill>
            <a:srgbClr val="03CB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vert="vert270"/>
          <a:lstStyle/>
          <a:p>
            <a:pPr algn="ctr"/>
            <a:r>
              <a:rPr sz="800" b="1">
                <a:solidFill>
                  <a:srgbClr val="FFFFFF"/>
                </a:solidFill>
                <a:latin typeface="Poppins"/>
              </a:rPr>
              <a:t>Manufacturing</a:t>
            </a:r>
          </a:p>
        </p:txBody>
      </p:sp>
      <p:sp>
        <p:nvSpPr>
          <p:cNvPr id="41" name="TextBox 40"/>
          <p:cNvSpPr txBox="1"/>
          <p:nvPr/>
        </p:nvSpPr>
        <p:spPr>
          <a:xfrm>
            <a:off x="274320" y="3913632"/>
            <a:ext cx="8503920" cy="402336"/>
          </a:xfrm>
          <a:prstGeom prst="rect">
            <a:avLst/>
          </a:prstGeom>
          <a:noFill/>
        </p:spPr>
        <p:txBody>
          <a:bodyPr wrap="square" lIns="45720" rIns="45720" anchor="t">
            <a:spAutoFit/>
          </a:bodyPr>
          <a:lstStyle/>
          <a:p>
            <a:pPr algn="l">
              <a:spcBef>
                <a:spcPts val="0"/>
              </a:spcBef>
              <a:spcAft>
                <a:spcPts val="0"/>
              </a:spcAft>
            </a:pPr>
            <a:r>
              <a:rPr sz="900" b="1" i="0">
                <a:solidFill>
                  <a:srgbClr val="03CBFF"/>
                </a:solidFill>
                <a:latin typeface="Poppins"/>
              </a:rPr>
              <a:t>Three of the five</a:t>
            </a:r>
            <a:r>
              <a:rPr sz="900" b="0" i="0">
                <a:solidFill>
                  <a:srgbClr val="404040"/>
                </a:solidFill>
                <a:latin typeface="Poppins"/>
              </a:rPr>
              <a:t> are where Arkema's Q2 2026 disclosure points. Aberdeen's stated primary industry is Healthcare; Manufacturing is served, and Arkema appears in Aberdeen's client roster as the firm's visible engagement in Energy &amp; Industrials.</a:t>
            </a:r>
          </a:p>
        </p:txBody>
      </p:sp>
      <p:sp>
        <p:nvSpPr>
          <p:cNvPr id="42" name="TextBox 41"/>
          <p:cNvSpPr txBox="1"/>
          <p:nvPr/>
        </p:nvSpPr>
        <p:spPr>
          <a:xfrm>
            <a:off x="274320" y="4334256"/>
            <a:ext cx="8503920" cy="219456"/>
          </a:xfrm>
          <a:prstGeom prst="rect">
            <a:avLst/>
          </a:prstGeom>
          <a:noFill/>
        </p:spPr>
        <p:txBody>
          <a:bodyPr wrap="square" lIns="45720" rIns="45720" anchor="t">
            <a:spAutoFit/>
          </a:bodyPr>
          <a:lstStyle/>
          <a:p>
            <a:pPr algn="l">
              <a:spcBef>
                <a:spcPts val="0"/>
              </a:spcBef>
              <a:spcAft>
                <a:spcPts val="0"/>
              </a:spcAft>
            </a:pPr>
            <a:r>
              <a:rPr sz="750" b="0" i="0">
                <a:solidFill>
                  <a:srgbClr val="5F5F5F"/>
                </a:solidFill>
                <a:latin typeface="Poppins"/>
              </a:rPr>
              <a:t>No engagement detail, deliverable, outcome, contact or relationship owner for Arkema is recorded in the source material, and none is asserted here.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5720"/>
            <a:ext cx="9144000" cy="18288"/>
          </a:xfrm>
          <a:prstGeom prst="rect">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274320" y="201168"/>
            <a:ext cx="8595360" cy="402336"/>
          </a:xfrm>
          <a:prstGeom prst="rect">
            <a:avLst/>
          </a:prstGeom>
          <a:noFill/>
        </p:spPr>
        <p:txBody>
          <a:bodyPr wrap="square" lIns="45720" rIns="45720" anchor="t">
            <a:spAutoFit/>
          </a:bodyPr>
          <a:lstStyle/>
          <a:p>
            <a:pPr algn="l">
              <a:spcBef>
                <a:spcPts val="0"/>
              </a:spcBef>
              <a:spcAft>
                <a:spcPts val="0"/>
              </a:spcAft>
            </a:pPr>
            <a:r>
              <a:rPr sz="2400" b="1" i="0">
                <a:solidFill>
                  <a:srgbClr val="09375F"/>
                </a:solidFill>
                <a:latin typeface="Poppins"/>
              </a:rPr>
              <a:t>What we understand — second quarter 2026</a:t>
            </a:r>
          </a:p>
        </p:txBody>
      </p:sp>
      <p:sp>
        <p:nvSpPr>
          <p:cNvPr id="4" name="TextBox 3"/>
          <p:cNvSpPr txBox="1"/>
          <p:nvPr/>
        </p:nvSpPr>
        <p:spPr>
          <a:xfrm>
            <a:off x="274320" y="621792"/>
            <a:ext cx="8595360" cy="365760"/>
          </a:xfrm>
          <a:prstGeom prst="rect">
            <a:avLst/>
          </a:prstGeom>
          <a:noFill/>
        </p:spPr>
        <p:txBody>
          <a:bodyPr wrap="square" lIns="45720" rIns="45720" anchor="t">
            <a:spAutoFit/>
          </a:bodyPr>
          <a:lstStyle/>
          <a:p>
            <a:pPr algn="l">
              <a:spcBef>
                <a:spcPts val="0"/>
              </a:spcBef>
              <a:spcAft>
                <a:spcPts val="0"/>
              </a:spcAft>
            </a:pPr>
            <a:r>
              <a:rPr sz="1200" b="0" i="0">
                <a:solidFill>
                  <a:srgbClr val="09375F"/>
                </a:solidFill>
                <a:latin typeface="Poppins"/>
              </a:rPr>
              <a:t>A margin story that is working, and a cash story that is not yet. Arkema is a specialty materials group of 20,700 employees in some 55 countries, with 2025 sales of around €9.1 billion.</a:t>
            </a:r>
          </a:p>
        </p:txBody>
      </p:sp>
      <p:pic>
        <p:nvPicPr>
          <p:cNvPr id="5" name="Picture 4" descr="arkema_logo.png"/>
          <p:cNvPicPr>
            <a:picLocks noChangeAspect="1"/>
          </p:cNvPicPr>
          <p:nvPr/>
        </p:nvPicPr>
        <p:blipFill>
          <a:blip r:embed="rId2"/>
          <a:stretch>
            <a:fillRect/>
          </a:stretch>
        </p:blipFill>
        <p:spPr>
          <a:xfrm>
            <a:off x="274320" y="4828032"/>
            <a:ext cx="559333" cy="169164"/>
          </a:xfrm>
          <a:prstGeom prst="rect">
            <a:avLst/>
          </a:prstGeom>
        </p:spPr>
      </p:pic>
      <p:pic>
        <p:nvPicPr>
          <p:cNvPr id="6" name="Picture 5" descr="aberdeen_logo.png"/>
          <p:cNvPicPr>
            <a:picLocks noChangeAspect="1"/>
          </p:cNvPicPr>
          <p:nvPr/>
        </p:nvPicPr>
        <p:blipFill>
          <a:blip r:embed="rId3"/>
          <a:stretch>
            <a:fillRect/>
          </a:stretch>
        </p:blipFill>
        <p:spPr>
          <a:xfrm>
            <a:off x="7818120" y="4791456"/>
            <a:ext cx="868680" cy="195856"/>
          </a:xfrm>
          <a:prstGeom prst="rect">
            <a:avLst/>
          </a:prstGeom>
        </p:spPr>
      </p:pic>
      <p:sp>
        <p:nvSpPr>
          <p:cNvPr id="7" name="TextBox 6"/>
          <p:cNvSpPr txBox="1"/>
          <p:nvPr/>
        </p:nvSpPr>
        <p:spPr>
          <a:xfrm>
            <a:off x="2103120" y="4846320"/>
            <a:ext cx="5577840" cy="182880"/>
          </a:xfrm>
          <a:prstGeom prst="rect">
            <a:avLst/>
          </a:prstGeom>
          <a:noFill/>
        </p:spPr>
        <p:txBody>
          <a:bodyPr wrap="square" lIns="45720" rIns="45720" anchor="t">
            <a:spAutoFit/>
          </a:bodyPr>
          <a:lstStyle/>
          <a:p>
            <a:pPr algn="ctr">
              <a:spcBef>
                <a:spcPts val="0"/>
              </a:spcBef>
              <a:spcAft>
                <a:spcPts val="0"/>
              </a:spcAft>
            </a:pPr>
            <a:r>
              <a:rPr sz="700" b="1" i="0">
                <a:solidFill>
                  <a:srgbClr val="5F5F5F"/>
                </a:solidFill>
                <a:latin typeface="Poppins"/>
              </a:rPr>
              <a:t>PROVISIONAL — PENDING REVIEW</a:t>
            </a:r>
            <a:r>
              <a:rPr sz="700" b="0" i="0">
                <a:solidFill>
                  <a:srgbClr val="5F5F5F"/>
                </a:solidFill>
                <a:latin typeface="Poppins"/>
              </a:rPr>
              <a:t>   ·   CONFIDENTIAL  ·  Aberdeen Advisors  ·  2026</a:t>
            </a:r>
          </a:p>
        </p:txBody>
      </p:sp>
      <p:sp>
        <p:nvSpPr>
          <p:cNvPr id="8" name="TextBox 7"/>
          <p:cNvSpPr txBox="1"/>
          <p:nvPr/>
        </p:nvSpPr>
        <p:spPr>
          <a:xfrm>
            <a:off x="8686800" y="4828032"/>
            <a:ext cx="320040" cy="182880"/>
          </a:xfrm>
          <a:prstGeom prst="rect">
            <a:avLst/>
          </a:prstGeom>
          <a:noFill/>
        </p:spPr>
        <p:txBody>
          <a:bodyPr wrap="square" lIns="45720" rIns="45720" anchor="t">
            <a:spAutoFit/>
          </a:bodyPr>
          <a:lstStyle/>
          <a:p>
            <a:pPr algn="r">
              <a:spcBef>
                <a:spcPts val="0"/>
              </a:spcBef>
              <a:spcAft>
                <a:spcPts val="0"/>
              </a:spcAft>
            </a:pPr>
            <a:r>
              <a:rPr sz="800" b="0" i="0">
                <a:solidFill>
                  <a:srgbClr val="5F5F5F"/>
                </a:solidFill>
                <a:latin typeface="Poppins"/>
              </a:rPr>
              <a:t>5</a:t>
            </a:r>
          </a:p>
        </p:txBody>
      </p:sp>
      <p:sp>
        <p:nvSpPr>
          <p:cNvPr id="9" name="Rectangle 8"/>
          <p:cNvSpPr/>
          <p:nvPr/>
        </p:nvSpPr>
        <p:spPr>
          <a:xfrm>
            <a:off x="274320" y="1133856"/>
            <a:ext cx="1664208" cy="786384"/>
          </a:xfrm>
          <a:prstGeom prst="rect">
            <a:avLst/>
          </a:prstGeom>
          <a:solidFill>
            <a:srgbClr val="E7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10896" y="1170432"/>
            <a:ext cx="1591056" cy="329184"/>
          </a:xfrm>
          <a:prstGeom prst="rect">
            <a:avLst/>
          </a:prstGeom>
          <a:noFill/>
        </p:spPr>
        <p:txBody>
          <a:bodyPr wrap="square" lIns="45720" rIns="45720" anchor="t">
            <a:spAutoFit/>
          </a:bodyPr>
          <a:lstStyle/>
          <a:p>
            <a:pPr algn="ctr">
              <a:spcBef>
                <a:spcPts val="0"/>
              </a:spcBef>
              <a:spcAft>
                <a:spcPts val="0"/>
              </a:spcAft>
            </a:pPr>
            <a:r>
              <a:rPr sz="1900" b="1" i="0">
                <a:solidFill>
                  <a:srgbClr val="03C0C1"/>
                </a:solidFill>
                <a:latin typeface="Poppins"/>
              </a:rPr>
              <a:t>€2,427.8m</a:t>
            </a:r>
          </a:p>
        </p:txBody>
      </p:sp>
      <p:sp>
        <p:nvSpPr>
          <p:cNvPr id="11" name="TextBox 10"/>
          <p:cNvSpPr txBox="1"/>
          <p:nvPr/>
        </p:nvSpPr>
        <p:spPr>
          <a:xfrm>
            <a:off x="310896" y="1490472"/>
            <a:ext cx="1591056" cy="201168"/>
          </a:xfrm>
          <a:prstGeom prst="rect">
            <a:avLst/>
          </a:prstGeom>
          <a:noFill/>
        </p:spPr>
        <p:txBody>
          <a:bodyPr wrap="square" lIns="45720" rIns="45720" anchor="t">
            <a:spAutoFit/>
          </a:bodyPr>
          <a:lstStyle/>
          <a:p>
            <a:pPr algn="ctr">
              <a:spcBef>
                <a:spcPts val="0"/>
              </a:spcBef>
              <a:spcAft>
                <a:spcPts val="0"/>
              </a:spcAft>
            </a:pPr>
            <a:r>
              <a:rPr sz="850" b="1" i="0">
                <a:solidFill>
                  <a:srgbClr val="09375F"/>
                </a:solidFill>
                <a:latin typeface="Poppins"/>
              </a:rPr>
              <a:t>Sales</a:t>
            </a:r>
          </a:p>
        </p:txBody>
      </p:sp>
      <p:sp>
        <p:nvSpPr>
          <p:cNvPr id="12" name="TextBox 11"/>
          <p:cNvSpPr txBox="1"/>
          <p:nvPr/>
        </p:nvSpPr>
        <p:spPr>
          <a:xfrm>
            <a:off x="310896" y="1682496"/>
            <a:ext cx="1591056" cy="201168"/>
          </a:xfrm>
          <a:prstGeom prst="rect">
            <a:avLst/>
          </a:prstGeom>
          <a:noFill/>
        </p:spPr>
        <p:txBody>
          <a:bodyPr wrap="square" lIns="45720" rIns="45720" anchor="t">
            <a:spAutoFit/>
          </a:bodyPr>
          <a:lstStyle/>
          <a:p>
            <a:pPr algn="ctr">
              <a:spcBef>
                <a:spcPts val="0"/>
              </a:spcBef>
              <a:spcAft>
                <a:spcPts val="0"/>
              </a:spcAft>
            </a:pPr>
            <a:r>
              <a:rPr sz="800" b="0" i="0">
                <a:solidFill>
                  <a:srgbClr val="5F5F5F"/>
                </a:solidFill>
                <a:latin typeface="Poppins"/>
              </a:rPr>
              <a:t>+1.3% YoY · organic +3.2%</a:t>
            </a:r>
          </a:p>
        </p:txBody>
      </p:sp>
      <p:sp>
        <p:nvSpPr>
          <p:cNvPr id="13" name="Rectangle 12"/>
          <p:cNvSpPr/>
          <p:nvPr/>
        </p:nvSpPr>
        <p:spPr>
          <a:xfrm>
            <a:off x="2011680" y="1133856"/>
            <a:ext cx="1664208" cy="786384"/>
          </a:xfrm>
          <a:prstGeom prst="rect">
            <a:avLst/>
          </a:prstGeom>
          <a:solidFill>
            <a:srgbClr val="E7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48256" y="1170432"/>
            <a:ext cx="1591056" cy="329184"/>
          </a:xfrm>
          <a:prstGeom prst="rect">
            <a:avLst/>
          </a:prstGeom>
          <a:noFill/>
        </p:spPr>
        <p:txBody>
          <a:bodyPr wrap="square" lIns="45720" rIns="45720" anchor="t">
            <a:spAutoFit/>
          </a:bodyPr>
          <a:lstStyle/>
          <a:p>
            <a:pPr algn="ctr">
              <a:spcBef>
                <a:spcPts val="0"/>
              </a:spcBef>
              <a:spcAft>
                <a:spcPts val="0"/>
              </a:spcAft>
            </a:pPr>
            <a:r>
              <a:rPr sz="1900" b="1" i="0">
                <a:solidFill>
                  <a:srgbClr val="03C0C1"/>
                </a:solidFill>
                <a:latin typeface="Poppins"/>
              </a:rPr>
              <a:t>€390.9m</a:t>
            </a:r>
          </a:p>
        </p:txBody>
      </p:sp>
      <p:sp>
        <p:nvSpPr>
          <p:cNvPr id="15" name="TextBox 14"/>
          <p:cNvSpPr txBox="1"/>
          <p:nvPr/>
        </p:nvSpPr>
        <p:spPr>
          <a:xfrm>
            <a:off x="2048256" y="1490472"/>
            <a:ext cx="1591056" cy="201168"/>
          </a:xfrm>
          <a:prstGeom prst="rect">
            <a:avLst/>
          </a:prstGeom>
          <a:noFill/>
        </p:spPr>
        <p:txBody>
          <a:bodyPr wrap="square" lIns="45720" rIns="45720" anchor="t">
            <a:spAutoFit/>
          </a:bodyPr>
          <a:lstStyle/>
          <a:p>
            <a:pPr algn="ctr">
              <a:spcBef>
                <a:spcPts val="0"/>
              </a:spcBef>
              <a:spcAft>
                <a:spcPts val="0"/>
              </a:spcAft>
            </a:pPr>
            <a:r>
              <a:rPr sz="850" b="1" i="0">
                <a:solidFill>
                  <a:srgbClr val="09375F"/>
                </a:solidFill>
                <a:latin typeface="Poppins"/>
              </a:rPr>
              <a:t>EBITDA</a:t>
            </a:r>
          </a:p>
        </p:txBody>
      </p:sp>
      <p:sp>
        <p:nvSpPr>
          <p:cNvPr id="16" name="TextBox 15"/>
          <p:cNvSpPr txBox="1"/>
          <p:nvPr/>
        </p:nvSpPr>
        <p:spPr>
          <a:xfrm>
            <a:off x="2048256" y="1682496"/>
            <a:ext cx="1591056" cy="201168"/>
          </a:xfrm>
          <a:prstGeom prst="rect">
            <a:avLst/>
          </a:prstGeom>
          <a:noFill/>
        </p:spPr>
        <p:txBody>
          <a:bodyPr wrap="square" lIns="45720" rIns="45720" anchor="t">
            <a:spAutoFit/>
          </a:bodyPr>
          <a:lstStyle/>
          <a:p>
            <a:pPr algn="ctr">
              <a:spcBef>
                <a:spcPts val="0"/>
              </a:spcBef>
              <a:spcAft>
                <a:spcPts val="0"/>
              </a:spcAft>
            </a:pPr>
            <a:r>
              <a:rPr sz="800" b="0" i="0">
                <a:solidFill>
                  <a:srgbClr val="5F5F5F"/>
                </a:solidFill>
                <a:latin typeface="Poppins"/>
              </a:rPr>
              <a:t>+7.4% YoY</a:t>
            </a:r>
          </a:p>
        </p:txBody>
      </p:sp>
      <p:sp>
        <p:nvSpPr>
          <p:cNvPr id="17" name="Rectangle 16"/>
          <p:cNvSpPr/>
          <p:nvPr/>
        </p:nvSpPr>
        <p:spPr>
          <a:xfrm>
            <a:off x="3749040" y="1133856"/>
            <a:ext cx="1664208" cy="786384"/>
          </a:xfrm>
          <a:prstGeom prst="rect">
            <a:avLst/>
          </a:prstGeom>
          <a:solidFill>
            <a:srgbClr val="E7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85616" y="1170432"/>
            <a:ext cx="1591056" cy="329184"/>
          </a:xfrm>
          <a:prstGeom prst="rect">
            <a:avLst/>
          </a:prstGeom>
          <a:noFill/>
        </p:spPr>
        <p:txBody>
          <a:bodyPr wrap="square" lIns="45720" rIns="45720" anchor="t">
            <a:spAutoFit/>
          </a:bodyPr>
          <a:lstStyle/>
          <a:p>
            <a:pPr algn="ctr">
              <a:spcBef>
                <a:spcPts val="0"/>
              </a:spcBef>
              <a:spcAft>
                <a:spcPts val="0"/>
              </a:spcAft>
            </a:pPr>
            <a:r>
              <a:rPr sz="1900" b="1" i="0">
                <a:solidFill>
                  <a:srgbClr val="03C0C1"/>
                </a:solidFill>
                <a:latin typeface="Poppins"/>
              </a:rPr>
              <a:t>16.1%</a:t>
            </a:r>
          </a:p>
        </p:txBody>
      </p:sp>
      <p:sp>
        <p:nvSpPr>
          <p:cNvPr id="19" name="TextBox 18"/>
          <p:cNvSpPr txBox="1"/>
          <p:nvPr/>
        </p:nvSpPr>
        <p:spPr>
          <a:xfrm>
            <a:off x="3785616" y="1490472"/>
            <a:ext cx="1591056" cy="201168"/>
          </a:xfrm>
          <a:prstGeom prst="rect">
            <a:avLst/>
          </a:prstGeom>
          <a:noFill/>
        </p:spPr>
        <p:txBody>
          <a:bodyPr wrap="square" lIns="45720" rIns="45720" anchor="t">
            <a:spAutoFit/>
          </a:bodyPr>
          <a:lstStyle/>
          <a:p>
            <a:pPr algn="ctr">
              <a:spcBef>
                <a:spcPts val="0"/>
              </a:spcBef>
              <a:spcAft>
                <a:spcPts val="0"/>
              </a:spcAft>
            </a:pPr>
            <a:r>
              <a:rPr sz="850" b="1" i="0">
                <a:solidFill>
                  <a:srgbClr val="09375F"/>
                </a:solidFill>
                <a:latin typeface="Poppins"/>
              </a:rPr>
              <a:t>EBITDA margin</a:t>
            </a:r>
          </a:p>
        </p:txBody>
      </p:sp>
      <p:sp>
        <p:nvSpPr>
          <p:cNvPr id="20" name="TextBox 19"/>
          <p:cNvSpPr txBox="1"/>
          <p:nvPr/>
        </p:nvSpPr>
        <p:spPr>
          <a:xfrm>
            <a:off x="3785616" y="1682496"/>
            <a:ext cx="1591056" cy="201168"/>
          </a:xfrm>
          <a:prstGeom prst="rect">
            <a:avLst/>
          </a:prstGeom>
          <a:noFill/>
        </p:spPr>
        <p:txBody>
          <a:bodyPr wrap="square" lIns="45720" rIns="45720" anchor="t">
            <a:spAutoFit/>
          </a:bodyPr>
          <a:lstStyle/>
          <a:p>
            <a:pPr algn="ctr">
              <a:spcBef>
                <a:spcPts val="0"/>
              </a:spcBef>
              <a:spcAft>
                <a:spcPts val="0"/>
              </a:spcAft>
            </a:pPr>
            <a:r>
              <a:rPr sz="800" b="0" i="0">
                <a:solidFill>
                  <a:srgbClr val="5F5F5F"/>
                </a:solidFill>
                <a:latin typeface="Poppins"/>
              </a:rPr>
              <a:t>+90 bps YoY</a:t>
            </a:r>
          </a:p>
        </p:txBody>
      </p:sp>
      <p:sp>
        <p:nvSpPr>
          <p:cNvPr id="21" name="Rectangle 20"/>
          <p:cNvSpPr/>
          <p:nvPr/>
        </p:nvSpPr>
        <p:spPr>
          <a:xfrm>
            <a:off x="5486400" y="1133856"/>
            <a:ext cx="1664208" cy="786384"/>
          </a:xfrm>
          <a:prstGeom prst="rect">
            <a:avLst/>
          </a:prstGeom>
          <a:solidFill>
            <a:srgbClr val="E7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22976" y="1170432"/>
            <a:ext cx="1591056" cy="329184"/>
          </a:xfrm>
          <a:prstGeom prst="rect">
            <a:avLst/>
          </a:prstGeom>
          <a:noFill/>
        </p:spPr>
        <p:txBody>
          <a:bodyPr wrap="square" lIns="45720" rIns="45720" anchor="t">
            <a:spAutoFit/>
          </a:bodyPr>
          <a:lstStyle/>
          <a:p>
            <a:pPr algn="ctr">
              <a:spcBef>
                <a:spcPts val="0"/>
              </a:spcBef>
              <a:spcAft>
                <a:spcPts val="0"/>
              </a:spcAft>
            </a:pPr>
            <a:r>
              <a:rPr sz="1900" b="1" i="0">
                <a:solidFill>
                  <a:srgbClr val="03C0C1"/>
                </a:solidFill>
                <a:latin typeface="Poppins"/>
              </a:rPr>
              <a:t>€78.3m</a:t>
            </a:r>
          </a:p>
        </p:txBody>
      </p:sp>
      <p:sp>
        <p:nvSpPr>
          <p:cNvPr id="23" name="TextBox 22"/>
          <p:cNvSpPr txBox="1"/>
          <p:nvPr/>
        </p:nvSpPr>
        <p:spPr>
          <a:xfrm>
            <a:off x="5522976" y="1490472"/>
            <a:ext cx="1591056" cy="201168"/>
          </a:xfrm>
          <a:prstGeom prst="rect">
            <a:avLst/>
          </a:prstGeom>
          <a:noFill/>
        </p:spPr>
        <p:txBody>
          <a:bodyPr wrap="square" lIns="45720" rIns="45720" anchor="t">
            <a:spAutoFit/>
          </a:bodyPr>
          <a:lstStyle/>
          <a:p>
            <a:pPr algn="ctr">
              <a:spcBef>
                <a:spcPts val="0"/>
              </a:spcBef>
              <a:spcAft>
                <a:spcPts val="0"/>
              </a:spcAft>
            </a:pPr>
            <a:r>
              <a:rPr sz="850" b="1" i="0">
                <a:solidFill>
                  <a:srgbClr val="09375F"/>
                </a:solidFill>
                <a:latin typeface="Poppins"/>
              </a:rPr>
              <a:t>Recurring cash flow</a:t>
            </a:r>
          </a:p>
        </p:txBody>
      </p:sp>
      <p:sp>
        <p:nvSpPr>
          <p:cNvPr id="24" name="TextBox 23"/>
          <p:cNvSpPr txBox="1"/>
          <p:nvPr/>
        </p:nvSpPr>
        <p:spPr>
          <a:xfrm>
            <a:off x="5522976" y="1682496"/>
            <a:ext cx="1591056" cy="201168"/>
          </a:xfrm>
          <a:prstGeom prst="rect">
            <a:avLst/>
          </a:prstGeom>
          <a:noFill/>
        </p:spPr>
        <p:txBody>
          <a:bodyPr wrap="square" lIns="45720" rIns="45720" anchor="t">
            <a:spAutoFit/>
          </a:bodyPr>
          <a:lstStyle/>
          <a:p>
            <a:pPr algn="ctr">
              <a:spcBef>
                <a:spcPts val="0"/>
              </a:spcBef>
              <a:spcAft>
                <a:spcPts val="0"/>
              </a:spcAft>
            </a:pPr>
            <a:r>
              <a:rPr sz="800" b="0" i="0">
                <a:solidFill>
                  <a:srgbClr val="5F5F5F"/>
                </a:solidFill>
                <a:latin typeface="Poppins"/>
              </a:rPr>
              <a:t>−29.3% YoY</a:t>
            </a:r>
          </a:p>
        </p:txBody>
      </p:sp>
      <p:sp>
        <p:nvSpPr>
          <p:cNvPr id="25" name="Rectangle 24"/>
          <p:cNvSpPr/>
          <p:nvPr/>
        </p:nvSpPr>
        <p:spPr>
          <a:xfrm>
            <a:off x="7223760" y="1133856"/>
            <a:ext cx="1664208" cy="786384"/>
          </a:xfrm>
          <a:prstGeom prst="rect">
            <a:avLst/>
          </a:prstGeom>
          <a:solidFill>
            <a:srgbClr val="E7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260336" y="1170432"/>
            <a:ext cx="1591056" cy="329184"/>
          </a:xfrm>
          <a:prstGeom prst="rect">
            <a:avLst/>
          </a:prstGeom>
          <a:noFill/>
        </p:spPr>
        <p:txBody>
          <a:bodyPr wrap="square" lIns="45720" rIns="45720" anchor="t">
            <a:spAutoFit/>
          </a:bodyPr>
          <a:lstStyle/>
          <a:p>
            <a:pPr algn="ctr">
              <a:spcBef>
                <a:spcPts val="0"/>
              </a:spcBef>
              <a:spcAft>
                <a:spcPts val="0"/>
              </a:spcAft>
            </a:pPr>
            <a:r>
              <a:rPr sz="1900" b="1" i="0">
                <a:solidFill>
                  <a:srgbClr val="03C0C1"/>
                </a:solidFill>
                <a:latin typeface="Poppins"/>
              </a:rPr>
              <a:t>2.9x</a:t>
            </a:r>
          </a:p>
        </p:txBody>
      </p:sp>
      <p:sp>
        <p:nvSpPr>
          <p:cNvPr id="27" name="TextBox 26"/>
          <p:cNvSpPr txBox="1"/>
          <p:nvPr/>
        </p:nvSpPr>
        <p:spPr>
          <a:xfrm>
            <a:off x="7260336" y="1490472"/>
            <a:ext cx="1591056" cy="201168"/>
          </a:xfrm>
          <a:prstGeom prst="rect">
            <a:avLst/>
          </a:prstGeom>
          <a:noFill/>
        </p:spPr>
        <p:txBody>
          <a:bodyPr wrap="square" lIns="45720" rIns="45720" anchor="t">
            <a:spAutoFit/>
          </a:bodyPr>
          <a:lstStyle/>
          <a:p>
            <a:pPr algn="ctr">
              <a:spcBef>
                <a:spcPts val="0"/>
              </a:spcBef>
              <a:spcAft>
                <a:spcPts val="0"/>
              </a:spcAft>
            </a:pPr>
            <a:r>
              <a:rPr sz="850" b="1" i="0">
                <a:solidFill>
                  <a:srgbClr val="09375F"/>
                </a:solidFill>
                <a:latin typeface="Poppins"/>
              </a:rPr>
              <a:t>Net debt / LTM EBITDA</a:t>
            </a:r>
          </a:p>
        </p:txBody>
      </p:sp>
      <p:sp>
        <p:nvSpPr>
          <p:cNvPr id="28" name="TextBox 27"/>
          <p:cNvSpPr txBox="1"/>
          <p:nvPr/>
        </p:nvSpPr>
        <p:spPr>
          <a:xfrm>
            <a:off x="7260336" y="1682496"/>
            <a:ext cx="1591056" cy="201168"/>
          </a:xfrm>
          <a:prstGeom prst="rect">
            <a:avLst/>
          </a:prstGeom>
          <a:noFill/>
        </p:spPr>
        <p:txBody>
          <a:bodyPr wrap="square" lIns="45720" rIns="45720" anchor="t">
            <a:spAutoFit/>
          </a:bodyPr>
          <a:lstStyle/>
          <a:p>
            <a:pPr algn="ctr">
              <a:spcBef>
                <a:spcPts val="0"/>
              </a:spcBef>
              <a:spcAft>
                <a:spcPts val="0"/>
              </a:spcAft>
            </a:pPr>
            <a:r>
              <a:rPr sz="800" b="0" i="0">
                <a:solidFill>
                  <a:srgbClr val="5F5F5F"/>
                </a:solidFill>
                <a:latin typeface="Poppins"/>
              </a:rPr>
              <a:t>€3,604.9m at 30 June</a:t>
            </a:r>
          </a:p>
        </p:txBody>
      </p:sp>
      <p:sp>
        <p:nvSpPr>
          <p:cNvPr id="29" name="Rectangle 28"/>
          <p:cNvSpPr/>
          <p:nvPr/>
        </p:nvSpPr>
        <p:spPr>
          <a:xfrm>
            <a:off x="274320" y="2029968"/>
            <a:ext cx="54864" cy="1536192"/>
          </a:xfrm>
          <a:prstGeom prst="rect">
            <a:avLst/>
          </a:prstGeom>
          <a:solidFill>
            <a:srgbClr val="00A6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02336" y="2011680"/>
            <a:ext cx="4069080" cy="237744"/>
          </a:xfrm>
          <a:prstGeom prst="rect">
            <a:avLst/>
          </a:prstGeom>
          <a:noFill/>
        </p:spPr>
        <p:txBody>
          <a:bodyPr wrap="square" lIns="45720" rIns="45720" anchor="t">
            <a:spAutoFit/>
          </a:bodyPr>
          <a:lstStyle/>
          <a:p>
            <a:pPr algn="l">
              <a:spcBef>
                <a:spcPts val="0"/>
              </a:spcBef>
              <a:spcAft>
                <a:spcPts val="0"/>
              </a:spcAft>
            </a:pPr>
            <a:r>
              <a:rPr sz="1150" b="1" i="0">
                <a:solidFill>
                  <a:srgbClr val="09375F"/>
                </a:solidFill>
                <a:latin typeface="Poppins"/>
              </a:rPr>
              <a:t>The margin story is working</a:t>
            </a:r>
          </a:p>
        </p:txBody>
      </p:sp>
      <p:sp>
        <p:nvSpPr>
          <p:cNvPr id="31" name="TextBox 30"/>
          <p:cNvSpPr txBox="1"/>
          <p:nvPr/>
        </p:nvSpPr>
        <p:spPr>
          <a:xfrm>
            <a:off x="402336" y="2249424"/>
            <a:ext cx="4069080" cy="1463040"/>
          </a:xfrm>
          <a:prstGeom prst="rect">
            <a:avLst/>
          </a:prstGeom>
          <a:noFill/>
        </p:spPr>
        <p:txBody>
          <a:bodyPr wrap="square" lIns="45720" rIns="45720" anchor="t">
            <a:spAutoFit/>
          </a:bodyPr>
          <a:lstStyle/>
          <a:p>
            <a:pPr algn="l">
              <a:spcBef>
                <a:spcPts val="0"/>
              </a:spcBef>
              <a:spcAft>
                <a:spcPts val="400"/>
              </a:spcAft>
            </a:pPr>
            <a:r>
              <a:rPr sz="800" b="1" i="0">
                <a:solidFill>
                  <a:srgbClr val="03C0C1"/>
                </a:solidFill>
                <a:latin typeface="Poppins"/>
              </a:rPr>
              <a:t>▪  </a:t>
            </a:r>
            <a:r>
              <a:rPr sz="800" b="0" i="0">
                <a:solidFill>
                  <a:srgbClr val="404040"/>
                </a:solidFill>
                <a:latin typeface="Poppins"/>
              </a:rPr>
              <a:t>Organic growth of 3.2%: a 5.1% price effect against volumes down 1.8%, currency negative 1.2% and scope negative 0.7%.</a:t>
            </a:r>
          </a:p>
          <a:p>
            <a:pPr algn="l">
              <a:spcBef>
                <a:spcPts val="0"/>
              </a:spcBef>
              <a:spcAft>
                <a:spcPts val="400"/>
              </a:spcAft>
            </a:pPr>
            <a:r>
              <a:rPr sz="800" b="1" i="0">
                <a:solidFill>
                  <a:srgbClr val="03C0C1"/>
                </a:solidFill>
                <a:latin typeface="Poppins"/>
              </a:rPr>
              <a:t>▪  </a:t>
            </a:r>
            <a:r>
              <a:rPr sz="800" b="0" i="0">
                <a:solidFill>
                  <a:srgbClr val="404040"/>
                </a:solidFill>
                <a:latin typeface="Poppins"/>
              </a:rPr>
              <a:t>EBITDA margin gained 90 bps to 16.1%. REBIT rose 10.9% to €219.5m, a 9.0% margin; adjusted net income €129.0m, €1.70 per share.</a:t>
            </a:r>
          </a:p>
          <a:p>
            <a:pPr algn="l">
              <a:spcBef>
                <a:spcPts val="0"/>
              </a:spcBef>
              <a:spcAft>
                <a:spcPts val="400"/>
              </a:spcAft>
            </a:pPr>
            <a:r>
              <a:rPr sz="800" b="1" i="0">
                <a:solidFill>
                  <a:srgbClr val="03C0C1"/>
                </a:solidFill>
                <a:latin typeface="Poppins"/>
              </a:rPr>
              <a:t>▪  </a:t>
            </a:r>
            <a:r>
              <a:rPr sz="800" b="0" i="0">
                <a:solidFill>
                  <a:srgbClr val="404040"/>
                </a:solidFill>
                <a:latin typeface="Poppins"/>
              </a:rPr>
              <a:t>Coating Solutions EBITDA margin recovered to 18.5% from 12.7%; Adhesive Solutions 15.1%; Advanced Materials fell to 18.7% from 20.9%.</a:t>
            </a:r>
          </a:p>
          <a:p>
            <a:pPr algn="l">
              <a:spcBef>
                <a:spcPts val="0"/>
              </a:spcBef>
              <a:spcAft>
                <a:spcPts val="400"/>
              </a:spcAft>
            </a:pPr>
            <a:r>
              <a:rPr sz="800" b="1" i="0">
                <a:solidFill>
                  <a:srgbClr val="03C0C1"/>
                </a:solidFill>
                <a:latin typeface="Poppins"/>
              </a:rPr>
              <a:t>▪  </a:t>
            </a:r>
            <a:r>
              <a:rPr sz="800" b="0" i="0">
                <a:solidFill>
                  <a:srgbClr val="404040"/>
                </a:solidFill>
                <a:latin typeface="Poppins"/>
              </a:rPr>
              <a:t>Batteries, electronics and 3D printing grew around 15%. Europe stayed challenged; Asia held good momentum.</a:t>
            </a:r>
          </a:p>
        </p:txBody>
      </p:sp>
      <p:sp>
        <p:nvSpPr>
          <p:cNvPr id="32" name="Rectangle 31"/>
          <p:cNvSpPr/>
          <p:nvPr/>
        </p:nvSpPr>
        <p:spPr>
          <a:xfrm>
            <a:off x="4654296" y="2029968"/>
            <a:ext cx="54864" cy="1536192"/>
          </a:xfrm>
          <a:prstGeom prst="rect">
            <a:avLst/>
          </a:prstGeom>
          <a:solidFill>
            <a:srgbClr val="F7CE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782312" y="2011680"/>
            <a:ext cx="4069080" cy="237744"/>
          </a:xfrm>
          <a:prstGeom prst="rect">
            <a:avLst/>
          </a:prstGeom>
          <a:noFill/>
        </p:spPr>
        <p:txBody>
          <a:bodyPr wrap="square" lIns="45720" rIns="45720" anchor="t">
            <a:spAutoFit/>
          </a:bodyPr>
          <a:lstStyle/>
          <a:p>
            <a:pPr algn="l">
              <a:spcBef>
                <a:spcPts val="0"/>
              </a:spcBef>
              <a:spcAft>
                <a:spcPts val="0"/>
              </a:spcAft>
            </a:pPr>
            <a:r>
              <a:rPr sz="1150" b="1" i="0">
                <a:solidFill>
                  <a:srgbClr val="09375F"/>
                </a:solidFill>
                <a:latin typeface="Poppins"/>
              </a:rPr>
              <a:t>The cash story is not yet</a:t>
            </a:r>
          </a:p>
        </p:txBody>
      </p:sp>
      <p:sp>
        <p:nvSpPr>
          <p:cNvPr id="34" name="TextBox 33"/>
          <p:cNvSpPr txBox="1"/>
          <p:nvPr/>
        </p:nvSpPr>
        <p:spPr>
          <a:xfrm>
            <a:off x="4782312" y="2249424"/>
            <a:ext cx="4069080" cy="1463040"/>
          </a:xfrm>
          <a:prstGeom prst="rect">
            <a:avLst/>
          </a:prstGeom>
          <a:noFill/>
        </p:spPr>
        <p:txBody>
          <a:bodyPr wrap="square" lIns="45720" rIns="45720" anchor="t">
            <a:spAutoFit/>
          </a:bodyPr>
          <a:lstStyle/>
          <a:p>
            <a:pPr algn="l">
              <a:spcBef>
                <a:spcPts val="0"/>
              </a:spcBef>
              <a:spcAft>
                <a:spcPts val="400"/>
              </a:spcAft>
            </a:pPr>
            <a:r>
              <a:rPr sz="800" b="1" i="0">
                <a:solidFill>
                  <a:srgbClr val="03C0C1"/>
                </a:solidFill>
                <a:latin typeface="Poppins"/>
              </a:rPr>
              <a:t>▪  </a:t>
            </a:r>
            <a:r>
              <a:rPr sz="800" b="0" i="0">
                <a:solidFill>
                  <a:srgbClr val="404040"/>
                </a:solidFill>
                <a:latin typeface="Poppins"/>
              </a:rPr>
              <a:t>Recurring cash flow fell 29.3% to €78.3m and free cash flow 25.6% to €67.7m.</a:t>
            </a:r>
          </a:p>
          <a:p>
            <a:pPr algn="l">
              <a:spcBef>
                <a:spcPts val="0"/>
              </a:spcBef>
              <a:spcAft>
                <a:spcPts val="400"/>
              </a:spcAft>
            </a:pPr>
            <a:r>
              <a:rPr sz="800" b="1" i="0">
                <a:solidFill>
                  <a:srgbClr val="03C0C1"/>
                </a:solidFill>
                <a:latin typeface="Poppins"/>
              </a:rPr>
              <a:t>▪  </a:t>
            </a:r>
            <a:r>
              <a:rPr sz="800" b="0" i="0">
                <a:solidFill>
                  <a:srgbClr val="404040"/>
                </a:solidFill>
                <a:latin typeface="Poppins"/>
              </a:rPr>
              <a:t>Working capital rose to €1,537.8m from €1,134.3m at 31 December 2025, though the ratio improved to 15.8% of annualized sales from 17.0% a year earlier.</a:t>
            </a:r>
          </a:p>
          <a:p>
            <a:pPr algn="l">
              <a:spcBef>
                <a:spcPts val="0"/>
              </a:spcBef>
              <a:spcAft>
                <a:spcPts val="400"/>
              </a:spcAft>
            </a:pPr>
            <a:r>
              <a:rPr sz="800" b="1" i="0">
                <a:solidFill>
                  <a:srgbClr val="03C0C1"/>
                </a:solidFill>
                <a:latin typeface="Poppins"/>
              </a:rPr>
              <a:t>▪  </a:t>
            </a:r>
            <a:r>
              <a:rPr sz="800" b="0" i="0">
                <a:solidFill>
                  <a:srgbClr val="404040"/>
                </a:solidFill>
                <a:latin typeface="Poppins"/>
              </a:rPr>
              <a:t>Net debt and hybrid bonds of €3,604.9m stand at 2.9x last-twelve-months EBITDA (€3,169.6m at 31 December 2025).</a:t>
            </a:r>
          </a:p>
          <a:p>
            <a:pPr algn="l">
              <a:spcBef>
                <a:spcPts val="0"/>
              </a:spcBef>
              <a:spcAft>
                <a:spcPts val="400"/>
              </a:spcAft>
            </a:pPr>
            <a:r>
              <a:rPr sz="800" b="1" i="0">
                <a:solidFill>
                  <a:srgbClr val="03C0C1"/>
                </a:solidFill>
                <a:latin typeface="Poppins"/>
              </a:rPr>
              <a:t>▪  </a:t>
            </a:r>
            <a:r>
              <a:rPr sz="800" b="0" i="0">
                <a:solidFill>
                  <a:srgbClr val="404040"/>
                </a:solidFill>
                <a:latin typeface="Poppins"/>
              </a:rPr>
              <a:t>Capex was held to €117m from €152m, inside a €600m full-year limit for 2026.</a:t>
            </a:r>
          </a:p>
        </p:txBody>
      </p:sp>
      <p:sp>
        <p:nvSpPr>
          <p:cNvPr id="35" name="Rectangle 34"/>
          <p:cNvSpPr/>
          <p:nvPr/>
        </p:nvSpPr>
        <p:spPr>
          <a:xfrm>
            <a:off x="274320" y="3803904"/>
            <a:ext cx="8503920" cy="512064"/>
          </a:xfrm>
          <a:prstGeom prst="rect">
            <a:avLst/>
          </a:prstGeom>
          <a:solidFill>
            <a:srgbClr val="FFFFFF"/>
          </a:solidFill>
          <a:ln w="9525">
            <a:solidFill>
              <a:srgbClr val="D1D4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65760" y="3831336"/>
            <a:ext cx="8321040" cy="457200"/>
          </a:xfrm>
          <a:prstGeom prst="rect">
            <a:avLst/>
          </a:prstGeom>
          <a:noFill/>
        </p:spPr>
        <p:txBody>
          <a:bodyPr wrap="square" lIns="45720" rIns="45720" anchor="t">
            <a:spAutoFit/>
          </a:bodyPr>
          <a:lstStyle/>
          <a:p>
            <a:pPr algn="l">
              <a:spcBef>
                <a:spcPts val="0"/>
              </a:spcBef>
              <a:spcAft>
                <a:spcPts val="0"/>
              </a:spcAft>
            </a:pPr>
            <a:r>
              <a:rPr sz="900" b="1" i="0">
                <a:solidFill>
                  <a:srgbClr val="09375F"/>
                </a:solidFill>
                <a:latin typeface="Poppins"/>
              </a:rPr>
              <a:t>In management's words: </a:t>
            </a:r>
            <a:r>
              <a:rPr sz="900" b="0" i="0">
                <a:solidFill>
                  <a:srgbClr val="404040"/>
                </a:solidFill>
                <a:latin typeface="Poppins"/>
              </a:rPr>
              <a:t>a quarter “impacted by the crisis in the Middle East, rising raw material prices and widespread supply chain disruption”, answered with “swift pricing adjustments”, strict cost discipline and “streamlining the organization”.</a:t>
            </a:r>
          </a:p>
        </p:txBody>
      </p:sp>
      <p:sp>
        <p:nvSpPr>
          <p:cNvPr id="37" name="TextBox 36"/>
          <p:cNvSpPr txBox="1"/>
          <p:nvPr/>
        </p:nvSpPr>
        <p:spPr>
          <a:xfrm>
            <a:off x="274320" y="4352544"/>
            <a:ext cx="8503920" cy="219456"/>
          </a:xfrm>
          <a:prstGeom prst="rect">
            <a:avLst/>
          </a:prstGeom>
          <a:noFill/>
        </p:spPr>
        <p:txBody>
          <a:bodyPr wrap="square" lIns="45720" rIns="45720" anchor="t">
            <a:spAutoFit/>
          </a:bodyPr>
          <a:lstStyle/>
          <a:p>
            <a:pPr algn="l">
              <a:spcBef>
                <a:spcPts val="0"/>
              </a:spcBef>
              <a:spcAft>
                <a:spcPts val="0"/>
              </a:spcAft>
            </a:pPr>
            <a:r>
              <a:rPr sz="700" b="0" i="0">
                <a:solidFill>
                  <a:srgbClr val="5F5F5F"/>
                </a:solidFill>
                <a:latin typeface="Poppins"/>
              </a:rPr>
              <a:t>Source: Arkema, “Second-quarter 2026 results” press release, 30 July 2026.  Key figures p.1; business performance pp.2–3; cash flow and net debt p.3; segments pp.3–5; outlook p.5; Group profile p.6; working capital table in the consolidated financial information appendix.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5720"/>
            <a:ext cx="9144000" cy="18288"/>
          </a:xfrm>
          <a:prstGeom prst="rect">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274320" y="201168"/>
            <a:ext cx="8595360" cy="402336"/>
          </a:xfrm>
          <a:prstGeom prst="rect">
            <a:avLst/>
          </a:prstGeom>
          <a:noFill/>
        </p:spPr>
        <p:txBody>
          <a:bodyPr wrap="square" lIns="45720" rIns="45720" anchor="t">
            <a:spAutoFit/>
          </a:bodyPr>
          <a:lstStyle/>
          <a:p>
            <a:pPr algn="l">
              <a:spcBef>
                <a:spcPts val="0"/>
              </a:spcBef>
              <a:spcAft>
                <a:spcPts val="0"/>
              </a:spcAft>
            </a:pPr>
            <a:r>
              <a:rPr sz="2400" b="1" i="0">
                <a:solidFill>
                  <a:srgbClr val="09375F"/>
                </a:solidFill>
                <a:latin typeface="Poppins"/>
              </a:rPr>
              <a:t>Topics for deeper conversation</a:t>
            </a:r>
          </a:p>
        </p:txBody>
      </p:sp>
      <p:sp>
        <p:nvSpPr>
          <p:cNvPr id="4" name="TextBox 3"/>
          <p:cNvSpPr txBox="1"/>
          <p:nvPr/>
        </p:nvSpPr>
        <p:spPr>
          <a:xfrm>
            <a:off x="274320" y="621792"/>
            <a:ext cx="8595360" cy="365760"/>
          </a:xfrm>
          <a:prstGeom prst="rect">
            <a:avLst/>
          </a:prstGeom>
          <a:noFill/>
        </p:spPr>
        <p:txBody>
          <a:bodyPr wrap="square" lIns="45720" rIns="45720" anchor="t">
            <a:spAutoFit/>
          </a:bodyPr>
          <a:lstStyle/>
          <a:p>
            <a:pPr algn="l">
              <a:spcBef>
                <a:spcPts val="0"/>
              </a:spcBef>
              <a:spcAft>
                <a:spcPts val="0"/>
              </a:spcAft>
            </a:pPr>
            <a:r>
              <a:rPr sz="1200" b="0" i="0">
                <a:solidFill>
                  <a:srgbClr val="09375F"/>
                </a:solidFill>
                <a:latin typeface="Poppins"/>
              </a:rPr>
              <a:t>Each topic is taken from Arkema's own disclosure, then mapped to the Aberdeen offering it points to.</a:t>
            </a:r>
          </a:p>
        </p:txBody>
      </p:sp>
      <p:pic>
        <p:nvPicPr>
          <p:cNvPr id="5" name="Picture 4" descr="arkema_logo.png"/>
          <p:cNvPicPr>
            <a:picLocks noChangeAspect="1"/>
          </p:cNvPicPr>
          <p:nvPr/>
        </p:nvPicPr>
        <p:blipFill>
          <a:blip r:embed="rId2"/>
          <a:stretch>
            <a:fillRect/>
          </a:stretch>
        </p:blipFill>
        <p:spPr>
          <a:xfrm>
            <a:off x="274320" y="4828032"/>
            <a:ext cx="559333" cy="169164"/>
          </a:xfrm>
          <a:prstGeom prst="rect">
            <a:avLst/>
          </a:prstGeom>
        </p:spPr>
      </p:pic>
      <p:pic>
        <p:nvPicPr>
          <p:cNvPr id="6" name="Picture 5" descr="aberdeen_logo.png"/>
          <p:cNvPicPr>
            <a:picLocks noChangeAspect="1"/>
          </p:cNvPicPr>
          <p:nvPr/>
        </p:nvPicPr>
        <p:blipFill>
          <a:blip r:embed="rId3"/>
          <a:stretch>
            <a:fillRect/>
          </a:stretch>
        </p:blipFill>
        <p:spPr>
          <a:xfrm>
            <a:off x="7818120" y="4791456"/>
            <a:ext cx="868680" cy="195856"/>
          </a:xfrm>
          <a:prstGeom prst="rect">
            <a:avLst/>
          </a:prstGeom>
        </p:spPr>
      </p:pic>
      <p:sp>
        <p:nvSpPr>
          <p:cNvPr id="7" name="TextBox 6"/>
          <p:cNvSpPr txBox="1"/>
          <p:nvPr/>
        </p:nvSpPr>
        <p:spPr>
          <a:xfrm>
            <a:off x="2103120" y="4846320"/>
            <a:ext cx="5577840" cy="182880"/>
          </a:xfrm>
          <a:prstGeom prst="rect">
            <a:avLst/>
          </a:prstGeom>
          <a:noFill/>
        </p:spPr>
        <p:txBody>
          <a:bodyPr wrap="square" lIns="45720" rIns="45720" anchor="t">
            <a:spAutoFit/>
          </a:bodyPr>
          <a:lstStyle/>
          <a:p>
            <a:pPr algn="ctr">
              <a:spcBef>
                <a:spcPts val="0"/>
              </a:spcBef>
              <a:spcAft>
                <a:spcPts val="0"/>
              </a:spcAft>
            </a:pPr>
            <a:r>
              <a:rPr sz="700" b="1" i="0">
                <a:solidFill>
                  <a:srgbClr val="5F5F5F"/>
                </a:solidFill>
                <a:latin typeface="Poppins"/>
              </a:rPr>
              <a:t>PROVISIONAL — PENDING REVIEW</a:t>
            </a:r>
            <a:r>
              <a:rPr sz="700" b="0" i="0">
                <a:solidFill>
                  <a:srgbClr val="5F5F5F"/>
                </a:solidFill>
                <a:latin typeface="Poppins"/>
              </a:rPr>
              <a:t>   ·   CONFIDENTIAL  ·  Aberdeen Advisors  ·  2026</a:t>
            </a:r>
          </a:p>
        </p:txBody>
      </p:sp>
      <p:sp>
        <p:nvSpPr>
          <p:cNvPr id="8" name="TextBox 7"/>
          <p:cNvSpPr txBox="1"/>
          <p:nvPr/>
        </p:nvSpPr>
        <p:spPr>
          <a:xfrm>
            <a:off x="8686800" y="4828032"/>
            <a:ext cx="320040" cy="182880"/>
          </a:xfrm>
          <a:prstGeom prst="rect">
            <a:avLst/>
          </a:prstGeom>
          <a:noFill/>
        </p:spPr>
        <p:txBody>
          <a:bodyPr wrap="square" lIns="45720" rIns="45720" anchor="t">
            <a:spAutoFit/>
          </a:bodyPr>
          <a:lstStyle/>
          <a:p>
            <a:pPr algn="r">
              <a:spcBef>
                <a:spcPts val="0"/>
              </a:spcBef>
              <a:spcAft>
                <a:spcPts val="0"/>
              </a:spcAft>
            </a:pPr>
            <a:r>
              <a:rPr sz="800" b="0" i="0">
                <a:solidFill>
                  <a:srgbClr val="5F5F5F"/>
                </a:solidFill>
                <a:latin typeface="Poppins"/>
              </a:rPr>
              <a:t>6</a:t>
            </a:r>
          </a:p>
        </p:txBody>
      </p:sp>
      <p:sp>
        <p:nvSpPr>
          <p:cNvPr id="9" name="Rectangle 8"/>
          <p:cNvSpPr/>
          <p:nvPr/>
        </p:nvSpPr>
        <p:spPr>
          <a:xfrm>
            <a:off x="274320" y="1115568"/>
            <a:ext cx="2148840" cy="1005840"/>
          </a:xfrm>
          <a:prstGeom prst="rect">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0"/>
              </a:spcAft>
            </a:pPr>
            <a:r>
              <a:rPr sz="950" b="1">
                <a:solidFill>
                  <a:srgbClr val="FFFFFF"/>
                </a:solidFill>
                <a:latin typeface="Poppins"/>
              </a:rPr>
              <a:t>What does good look</a:t>
            </a:r>
          </a:p>
          <a:p>
            <a:pPr algn="l">
              <a:spcAft>
                <a:spcPts val="0"/>
              </a:spcAft>
            </a:pPr>
            <a:r>
              <a:rPr sz="950" b="1">
                <a:solidFill>
                  <a:srgbClr val="FFFFFF"/>
                </a:solidFill>
                <a:latin typeface="Poppins"/>
              </a:rPr>
              <a:t>like when two portfolio</a:t>
            </a:r>
          </a:p>
          <a:p>
            <a:pPr algn="l">
              <a:spcAft>
                <a:spcPts val="0"/>
              </a:spcAft>
            </a:pPr>
            <a:r>
              <a:rPr sz="950" b="1">
                <a:solidFill>
                  <a:srgbClr val="FFFFFF"/>
                </a:solidFill>
                <a:latin typeface="Poppins"/>
              </a:rPr>
              <a:t>moves land in one quarter?</a:t>
            </a:r>
          </a:p>
        </p:txBody>
      </p:sp>
      <p:sp>
        <p:nvSpPr>
          <p:cNvPr id="10" name="Oval 9"/>
          <p:cNvSpPr/>
          <p:nvPr/>
        </p:nvSpPr>
        <p:spPr>
          <a:xfrm>
            <a:off x="2560320" y="1133856"/>
            <a:ext cx="237744" cy="237744"/>
          </a:xfrm>
          <a:prstGeom prst="ellipse">
            <a:avLst/>
          </a:prstGeom>
          <a:noFill/>
          <a:ln w="12700">
            <a:solidFill>
              <a:srgbClr val="09375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09375F"/>
                </a:solidFill>
                <a:latin typeface="Poppins"/>
              </a:rPr>
              <a:t>1</a:t>
            </a:r>
          </a:p>
        </p:txBody>
      </p:sp>
      <p:sp>
        <p:nvSpPr>
          <p:cNvPr id="11" name="TextBox 10"/>
          <p:cNvSpPr txBox="1"/>
          <p:nvPr/>
        </p:nvSpPr>
        <p:spPr>
          <a:xfrm>
            <a:off x="2871216" y="1115568"/>
            <a:ext cx="5907024" cy="1005840"/>
          </a:xfrm>
          <a:prstGeom prst="rect">
            <a:avLst/>
          </a:prstGeom>
          <a:noFill/>
        </p:spPr>
        <p:txBody>
          <a:bodyPr wrap="square" lIns="45720" rIns="45720" anchor="t">
            <a:spAutoFit/>
          </a:bodyPr>
          <a:lstStyle/>
          <a:p>
            <a:pPr algn="l">
              <a:spcBef>
                <a:spcPts val="0"/>
              </a:spcBef>
              <a:spcAft>
                <a:spcPts val="0"/>
              </a:spcAft>
            </a:pPr>
            <a:r>
              <a:rPr sz="900" b="1" i="1">
                <a:solidFill>
                  <a:srgbClr val="03CBFF"/>
                </a:solidFill>
                <a:latin typeface="Poppins"/>
              </a:rPr>
              <a:t>Two portfolio moves inside one quarter: </a:t>
            </a:r>
            <a:r>
              <a:rPr sz="900" b="0" i="1">
                <a:solidFill>
                  <a:srgbClr val="404040"/>
                </a:solidFill>
                <a:latin typeface="Poppins"/>
              </a:rPr>
              <a:t>Arkema is ramping the recent acquisition of Dow adhesives while having completed the divestment of small plastic additives businesses on 1 July — already visible as the negative 0.7% group scope effect and a negative 4.2% sales impact in Coating Solutions.</a:t>
            </a:r>
          </a:p>
        </p:txBody>
      </p:sp>
      <p:cxnSp>
        <p:nvCxnSpPr>
          <p:cNvPr id="12" name="Connector 11"/>
          <p:cNvCxnSpPr/>
          <p:nvPr/>
        </p:nvCxnSpPr>
        <p:spPr>
          <a:xfrm>
            <a:off x="274320" y="2212848"/>
            <a:ext cx="8503920" cy="0"/>
          </a:xfrm>
          <a:prstGeom prst="line">
            <a:avLst/>
          </a:prstGeom>
          <a:ln w="9525">
            <a:solidFill>
              <a:srgbClr val="D1D4DD"/>
            </a:solidFill>
            <a:prstDash val="dash"/>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74320" y="2304288"/>
            <a:ext cx="2148840" cy="1005840"/>
          </a:xfrm>
          <a:prstGeom prst="rect">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0"/>
              </a:spcAft>
            </a:pPr>
            <a:r>
              <a:rPr sz="950" b="1">
                <a:solidFill>
                  <a:srgbClr val="FFFFFF"/>
                </a:solidFill>
                <a:latin typeface="Poppins"/>
              </a:rPr>
              <a:t>How is delivery risk</a:t>
            </a:r>
          </a:p>
          <a:p>
            <a:pPr algn="l">
              <a:spcAft>
                <a:spcPts val="0"/>
              </a:spcAft>
            </a:pPr>
            <a:r>
              <a:rPr sz="950" b="1">
                <a:solidFill>
                  <a:srgbClr val="FFFFFF"/>
                </a:solidFill>
                <a:latin typeface="Poppins"/>
              </a:rPr>
              <a:t>held across five</a:t>
            </a:r>
          </a:p>
          <a:p>
            <a:pPr algn="l">
              <a:spcAft>
                <a:spcPts val="0"/>
              </a:spcAft>
            </a:pPr>
            <a:r>
              <a:rPr sz="950" b="1">
                <a:solidFill>
                  <a:srgbClr val="FFFFFF"/>
                </a:solidFill>
                <a:latin typeface="Poppins"/>
              </a:rPr>
              <a:t>simultaneous ramp-ups?</a:t>
            </a:r>
          </a:p>
        </p:txBody>
      </p:sp>
      <p:sp>
        <p:nvSpPr>
          <p:cNvPr id="14" name="Oval 13"/>
          <p:cNvSpPr/>
          <p:nvPr/>
        </p:nvSpPr>
        <p:spPr>
          <a:xfrm>
            <a:off x="2560320" y="2322576"/>
            <a:ext cx="237744" cy="237744"/>
          </a:xfrm>
          <a:prstGeom prst="ellipse">
            <a:avLst/>
          </a:prstGeom>
          <a:noFill/>
          <a:ln w="12700">
            <a:solidFill>
              <a:srgbClr val="09375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09375F"/>
                </a:solidFill>
                <a:latin typeface="Poppins"/>
              </a:rPr>
              <a:t>2</a:t>
            </a:r>
          </a:p>
        </p:txBody>
      </p:sp>
      <p:sp>
        <p:nvSpPr>
          <p:cNvPr id="15" name="TextBox 14"/>
          <p:cNvSpPr txBox="1"/>
          <p:nvPr/>
        </p:nvSpPr>
        <p:spPr>
          <a:xfrm>
            <a:off x="2871216" y="2304288"/>
            <a:ext cx="5907024" cy="1005840"/>
          </a:xfrm>
          <a:prstGeom prst="rect">
            <a:avLst/>
          </a:prstGeom>
          <a:noFill/>
        </p:spPr>
        <p:txBody>
          <a:bodyPr wrap="square" lIns="45720" rIns="45720" anchor="t">
            <a:spAutoFit/>
          </a:bodyPr>
          <a:lstStyle/>
          <a:p>
            <a:pPr algn="l">
              <a:spcBef>
                <a:spcPts val="0"/>
              </a:spcBef>
              <a:spcAft>
                <a:spcPts val="0"/>
              </a:spcAft>
            </a:pPr>
            <a:r>
              <a:rPr sz="900" b="1" i="1">
                <a:solidFill>
                  <a:srgbClr val="03CBFF"/>
                </a:solidFill>
                <a:latin typeface="Poppins"/>
              </a:rPr>
              <a:t>Five major projects ramping against a fixed capital ceiling: </a:t>
            </a:r>
            <a:r>
              <a:rPr sz="900" b="0" i="1">
                <a:solidFill>
                  <a:srgbClr val="404040"/>
                </a:solidFill>
                <a:latin typeface="Poppins"/>
              </a:rPr>
              <a:t>Dow adhesives, PA11 and Rilsan® Clear in Singapore, the PVDF expansion at Calvert City, new acrylics distillation in France, and HF supply at Nutrien. They added around €25m of EBITDA in H1 and are expected to deliver around €50m for the full year against 2025, inside the €600m capex limit.</a:t>
            </a:r>
          </a:p>
        </p:txBody>
      </p:sp>
      <p:cxnSp>
        <p:nvCxnSpPr>
          <p:cNvPr id="16" name="Connector 15"/>
          <p:cNvCxnSpPr/>
          <p:nvPr/>
        </p:nvCxnSpPr>
        <p:spPr>
          <a:xfrm>
            <a:off x="274320" y="3401568"/>
            <a:ext cx="8503920" cy="0"/>
          </a:xfrm>
          <a:prstGeom prst="line">
            <a:avLst/>
          </a:prstGeom>
          <a:ln w="9525">
            <a:solidFill>
              <a:srgbClr val="D1D4DD"/>
            </a:solidFill>
            <a:prstDash val="dash"/>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74320" y="3493008"/>
            <a:ext cx="2148840" cy="1005840"/>
          </a:xfrm>
          <a:prstGeom prst="rect">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0"/>
              </a:spcAft>
            </a:pPr>
            <a:r>
              <a:rPr sz="950" b="1">
                <a:solidFill>
                  <a:srgbClr val="FFFFFF"/>
                </a:solidFill>
                <a:latin typeface="Poppins"/>
              </a:rPr>
              <a:t>Where does cost and</a:t>
            </a:r>
          </a:p>
          <a:p>
            <a:pPr algn="l">
              <a:spcAft>
                <a:spcPts val="0"/>
              </a:spcAft>
            </a:pPr>
            <a:r>
              <a:rPr sz="950" b="1">
                <a:solidFill>
                  <a:srgbClr val="FFFFFF"/>
                </a:solidFill>
                <a:latin typeface="Poppins"/>
              </a:rPr>
              <a:t>cash discipline become</a:t>
            </a:r>
          </a:p>
          <a:p>
            <a:pPr algn="l">
              <a:spcAft>
                <a:spcPts val="0"/>
              </a:spcAft>
            </a:pPr>
            <a:r>
              <a:rPr sz="950" b="1">
                <a:solidFill>
                  <a:srgbClr val="FFFFFF"/>
                </a:solidFill>
                <a:latin typeface="Poppins"/>
              </a:rPr>
              <a:t>a technology question?</a:t>
            </a:r>
          </a:p>
        </p:txBody>
      </p:sp>
      <p:sp>
        <p:nvSpPr>
          <p:cNvPr id="18" name="Oval 17"/>
          <p:cNvSpPr/>
          <p:nvPr/>
        </p:nvSpPr>
        <p:spPr>
          <a:xfrm>
            <a:off x="2560320" y="3511296"/>
            <a:ext cx="237744" cy="237744"/>
          </a:xfrm>
          <a:prstGeom prst="ellipse">
            <a:avLst/>
          </a:prstGeom>
          <a:noFill/>
          <a:ln w="12700">
            <a:solidFill>
              <a:srgbClr val="09375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09375F"/>
                </a:solidFill>
                <a:latin typeface="Poppins"/>
              </a:rPr>
              <a:t>3</a:t>
            </a:r>
          </a:p>
        </p:txBody>
      </p:sp>
      <p:sp>
        <p:nvSpPr>
          <p:cNvPr id="19" name="TextBox 18"/>
          <p:cNvSpPr txBox="1"/>
          <p:nvPr/>
        </p:nvSpPr>
        <p:spPr>
          <a:xfrm>
            <a:off x="2871216" y="3493008"/>
            <a:ext cx="5907024" cy="1005840"/>
          </a:xfrm>
          <a:prstGeom prst="rect">
            <a:avLst/>
          </a:prstGeom>
          <a:noFill/>
        </p:spPr>
        <p:txBody>
          <a:bodyPr wrap="square" lIns="45720" rIns="45720" anchor="t">
            <a:spAutoFit/>
          </a:bodyPr>
          <a:lstStyle/>
          <a:p>
            <a:pPr algn="l">
              <a:spcBef>
                <a:spcPts val="0"/>
              </a:spcBef>
              <a:spcAft>
                <a:spcPts val="0"/>
              </a:spcAft>
            </a:pPr>
            <a:r>
              <a:rPr sz="900" b="1" i="1">
                <a:solidFill>
                  <a:srgbClr val="03CBFF"/>
                </a:solidFill>
                <a:latin typeface="Poppins"/>
              </a:rPr>
              <a:t>Cost and cash discipline, including a two-site reorganization: </a:t>
            </a:r>
            <a:r>
              <a:rPr sz="900" b="0" i="1">
                <a:solidFill>
                  <a:srgbClr val="404040"/>
                </a:solidFill>
                <a:latin typeface="Poppins"/>
              </a:rPr>
              <a:t>Arkema states an objective of offsetting fixed cost inflation over the full year while “streamlining the organization”. Operating income of €141.4m included €46m of exceptional expenses, mainly the reorganization of the Jarrie and Pierre-Bénite sites, legal proceedings and the divestment.</a:t>
            </a:r>
          </a:p>
        </p:txBody>
      </p:sp>
      <p:sp>
        <p:nvSpPr>
          <p:cNvPr id="20" name="TextBox 19"/>
          <p:cNvSpPr txBox="1"/>
          <p:nvPr/>
        </p:nvSpPr>
        <p:spPr>
          <a:xfrm>
            <a:off x="274320" y="4590288"/>
            <a:ext cx="8503920" cy="201168"/>
          </a:xfrm>
          <a:prstGeom prst="rect">
            <a:avLst/>
          </a:prstGeom>
          <a:noFill/>
        </p:spPr>
        <p:txBody>
          <a:bodyPr wrap="square" lIns="45720" rIns="45720" anchor="t">
            <a:spAutoFit/>
          </a:bodyPr>
          <a:lstStyle/>
          <a:p>
            <a:pPr algn="l">
              <a:spcBef>
                <a:spcPts val="0"/>
              </a:spcBef>
              <a:spcAft>
                <a:spcPts val="0"/>
              </a:spcAft>
            </a:pPr>
            <a:r>
              <a:rPr sz="700" b="0" i="0">
                <a:solidFill>
                  <a:srgbClr val="5F5F5F"/>
                </a:solidFill>
                <a:latin typeface="Poppins"/>
              </a:rPr>
              <a:t>Source: Arkema, “Second-quarter 2026 results” press release, 30 July 2026.  Scope effect p.2; Coating Solutions p.4; major projects and CEO commentary p.1, contribution p.2 and outlook p.5; exceptional expenses p.3.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5720"/>
            <a:ext cx="9144000" cy="18288"/>
          </a:xfrm>
          <a:prstGeom prst="rect">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274320" y="201168"/>
            <a:ext cx="8595360" cy="402336"/>
          </a:xfrm>
          <a:prstGeom prst="rect">
            <a:avLst/>
          </a:prstGeom>
          <a:noFill/>
        </p:spPr>
        <p:txBody>
          <a:bodyPr wrap="square" lIns="45720" rIns="45720" anchor="t">
            <a:spAutoFit/>
          </a:bodyPr>
          <a:lstStyle/>
          <a:p>
            <a:pPr algn="l">
              <a:spcBef>
                <a:spcPts val="0"/>
              </a:spcBef>
              <a:spcAft>
                <a:spcPts val="0"/>
              </a:spcAft>
            </a:pPr>
            <a:r>
              <a:rPr sz="2400" b="1" i="0">
                <a:solidFill>
                  <a:srgbClr val="09375F"/>
                </a:solidFill>
                <a:latin typeface="Poppins"/>
              </a:rPr>
              <a:t>Topic 1 — Two portfolio moves in one quarter</a:t>
            </a:r>
          </a:p>
        </p:txBody>
      </p:sp>
      <p:sp>
        <p:nvSpPr>
          <p:cNvPr id="4" name="TextBox 3"/>
          <p:cNvSpPr txBox="1"/>
          <p:nvPr/>
        </p:nvSpPr>
        <p:spPr>
          <a:xfrm>
            <a:off x="274320" y="621792"/>
            <a:ext cx="8595360" cy="365760"/>
          </a:xfrm>
          <a:prstGeom prst="rect">
            <a:avLst/>
          </a:prstGeom>
          <a:noFill/>
        </p:spPr>
        <p:txBody>
          <a:bodyPr wrap="square" lIns="45720" rIns="45720" anchor="t">
            <a:spAutoFit/>
          </a:bodyPr>
          <a:lstStyle/>
          <a:p>
            <a:pPr algn="l">
              <a:spcBef>
                <a:spcPts val="0"/>
              </a:spcBef>
              <a:spcAft>
                <a:spcPts val="0"/>
              </a:spcAft>
            </a:pPr>
            <a:r>
              <a:rPr sz="1200" b="0" i="0">
                <a:solidFill>
                  <a:srgbClr val="09375F"/>
                </a:solidFill>
                <a:latin typeface="Poppins"/>
              </a:rPr>
              <a:t>Integration of the recent Dow adhesives acquisition is ramping while the divestment of small plastic additives businesses completed on 1 July; both are already visible in the numbers.</a:t>
            </a:r>
          </a:p>
        </p:txBody>
      </p:sp>
      <p:pic>
        <p:nvPicPr>
          <p:cNvPr id="5" name="Picture 4" descr="arkema_logo.png"/>
          <p:cNvPicPr>
            <a:picLocks noChangeAspect="1"/>
          </p:cNvPicPr>
          <p:nvPr/>
        </p:nvPicPr>
        <p:blipFill>
          <a:blip r:embed="rId2"/>
          <a:stretch>
            <a:fillRect/>
          </a:stretch>
        </p:blipFill>
        <p:spPr>
          <a:xfrm>
            <a:off x="274320" y="4828032"/>
            <a:ext cx="559333" cy="169164"/>
          </a:xfrm>
          <a:prstGeom prst="rect">
            <a:avLst/>
          </a:prstGeom>
        </p:spPr>
      </p:pic>
      <p:pic>
        <p:nvPicPr>
          <p:cNvPr id="6" name="Picture 5" descr="aberdeen_logo.png"/>
          <p:cNvPicPr>
            <a:picLocks noChangeAspect="1"/>
          </p:cNvPicPr>
          <p:nvPr/>
        </p:nvPicPr>
        <p:blipFill>
          <a:blip r:embed="rId3"/>
          <a:stretch>
            <a:fillRect/>
          </a:stretch>
        </p:blipFill>
        <p:spPr>
          <a:xfrm>
            <a:off x="7818120" y="4791456"/>
            <a:ext cx="868680" cy="195856"/>
          </a:xfrm>
          <a:prstGeom prst="rect">
            <a:avLst/>
          </a:prstGeom>
        </p:spPr>
      </p:pic>
      <p:sp>
        <p:nvSpPr>
          <p:cNvPr id="7" name="TextBox 6"/>
          <p:cNvSpPr txBox="1"/>
          <p:nvPr/>
        </p:nvSpPr>
        <p:spPr>
          <a:xfrm>
            <a:off x="2103120" y="4846320"/>
            <a:ext cx="5577840" cy="182880"/>
          </a:xfrm>
          <a:prstGeom prst="rect">
            <a:avLst/>
          </a:prstGeom>
          <a:noFill/>
        </p:spPr>
        <p:txBody>
          <a:bodyPr wrap="square" lIns="45720" rIns="45720" anchor="t">
            <a:spAutoFit/>
          </a:bodyPr>
          <a:lstStyle/>
          <a:p>
            <a:pPr algn="ctr">
              <a:spcBef>
                <a:spcPts val="0"/>
              </a:spcBef>
              <a:spcAft>
                <a:spcPts val="0"/>
              </a:spcAft>
            </a:pPr>
            <a:r>
              <a:rPr sz="700" b="1" i="0">
                <a:solidFill>
                  <a:srgbClr val="5F5F5F"/>
                </a:solidFill>
                <a:latin typeface="Poppins"/>
              </a:rPr>
              <a:t>PROVISIONAL — PENDING REVIEW</a:t>
            </a:r>
            <a:r>
              <a:rPr sz="700" b="0" i="0">
                <a:solidFill>
                  <a:srgbClr val="5F5F5F"/>
                </a:solidFill>
                <a:latin typeface="Poppins"/>
              </a:rPr>
              <a:t>   ·   CONFIDENTIAL  ·  Aberdeen Advisors  ·  2026</a:t>
            </a:r>
          </a:p>
        </p:txBody>
      </p:sp>
      <p:sp>
        <p:nvSpPr>
          <p:cNvPr id="8" name="TextBox 7"/>
          <p:cNvSpPr txBox="1"/>
          <p:nvPr/>
        </p:nvSpPr>
        <p:spPr>
          <a:xfrm>
            <a:off x="8686800" y="4828032"/>
            <a:ext cx="320040" cy="182880"/>
          </a:xfrm>
          <a:prstGeom prst="rect">
            <a:avLst/>
          </a:prstGeom>
          <a:noFill/>
        </p:spPr>
        <p:txBody>
          <a:bodyPr wrap="square" lIns="45720" rIns="45720" anchor="t">
            <a:spAutoFit/>
          </a:bodyPr>
          <a:lstStyle/>
          <a:p>
            <a:pPr algn="r">
              <a:spcBef>
                <a:spcPts val="0"/>
              </a:spcBef>
              <a:spcAft>
                <a:spcPts val="0"/>
              </a:spcAft>
            </a:pPr>
            <a:r>
              <a:rPr sz="800" b="0" i="0">
                <a:solidFill>
                  <a:srgbClr val="5F5F5F"/>
                </a:solidFill>
                <a:latin typeface="Poppins"/>
              </a:rPr>
              <a:t>7</a:t>
            </a:r>
          </a:p>
        </p:txBody>
      </p:sp>
      <p:sp>
        <p:nvSpPr>
          <p:cNvPr id="9" name="Oval 8"/>
          <p:cNvSpPr/>
          <p:nvPr/>
        </p:nvSpPr>
        <p:spPr>
          <a:xfrm>
            <a:off x="7918704" y="1060704"/>
            <a:ext cx="256032" cy="256032"/>
          </a:xfrm>
          <a:prstGeom prst="ellipse">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FFFFFF"/>
                </a:solidFill>
                <a:latin typeface="Poppins"/>
              </a:rPr>
              <a:t>1</a:t>
            </a:r>
          </a:p>
        </p:txBody>
      </p:sp>
      <p:sp>
        <p:nvSpPr>
          <p:cNvPr id="10" name="Oval 9"/>
          <p:cNvSpPr/>
          <p:nvPr/>
        </p:nvSpPr>
        <p:spPr>
          <a:xfrm>
            <a:off x="8229600" y="1060704"/>
            <a:ext cx="256032" cy="256032"/>
          </a:xfrm>
          <a:prstGeom prst="ellipse">
            <a:avLst/>
          </a:prstGeom>
          <a:noFill/>
          <a:ln w="9525">
            <a:solidFill>
              <a:srgbClr val="D1D4D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5F5F5F"/>
                </a:solidFill>
                <a:latin typeface="Poppins"/>
              </a:rPr>
              <a:t>2</a:t>
            </a:r>
          </a:p>
        </p:txBody>
      </p:sp>
      <p:sp>
        <p:nvSpPr>
          <p:cNvPr id="11" name="Oval 10"/>
          <p:cNvSpPr/>
          <p:nvPr/>
        </p:nvSpPr>
        <p:spPr>
          <a:xfrm>
            <a:off x="8540496" y="1060704"/>
            <a:ext cx="256032" cy="256032"/>
          </a:xfrm>
          <a:prstGeom prst="ellipse">
            <a:avLst/>
          </a:prstGeom>
          <a:noFill/>
          <a:ln w="9525">
            <a:solidFill>
              <a:srgbClr val="D1D4D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5F5F5F"/>
                </a:solidFill>
                <a:latin typeface="Poppins"/>
              </a:rPr>
              <a:t>3</a:t>
            </a:r>
          </a:p>
        </p:txBody>
      </p:sp>
      <p:sp>
        <p:nvSpPr>
          <p:cNvPr id="12" name="Rectangle 11"/>
          <p:cNvSpPr/>
          <p:nvPr/>
        </p:nvSpPr>
        <p:spPr>
          <a:xfrm>
            <a:off x="274320" y="1060704"/>
            <a:ext cx="2103120" cy="256032"/>
          </a:xfrm>
          <a:prstGeom prst="rect">
            <a:avLst/>
          </a:prstGeom>
          <a:noFill/>
          <a:ln w="12700">
            <a:solidFill>
              <a:srgbClr val="00A67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sz="850" b="1">
                <a:solidFill>
                  <a:srgbClr val="00A676"/>
                </a:solidFill>
                <a:latin typeface="Poppins"/>
              </a:rPr>
              <a:t>Proof: Strong</a:t>
            </a:r>
          </a:p>
        </p:txBody>
      </p:sp>
      <p:sp>
        <p:nvSpPr>
          <p:cNvPr id="13" name="TextBox 12"/>
          <p:cNvSpPr txBox="1"/>
          <p:nvPr/>
        </p:nvSpPr>
        <p:spPr>
          <a:xfrm>
            <a:off x="2487168" y="1060704"/>
            <a:ext cx="5349240" cy="329184"/>
          </a:xfrm>
          <a:prstGeom prst="rect">
            <a:avLst/>
          </a:prstGeom>
          <a:noFill/>
        </p:spPr>
        <p:txBody>
          <a:bodyPr wrap="square" lIns="45720" rIns="45720" anchor="t">
            <a:spAutoFit/>
          </a:bodyPr>
          <a:lstStyle/>
          <a:p>
            <a:pPr algn="l">
              <a:spcBef>
                <a:spcPts val="0"/>
              </a:spcBef>
              <a:spcAft>
                <a:spcPts val="0"/>
              </a:spcAft>
            </a:pPr>
            <a:r>
              <a:rPr sz="850" b="0" i="0">
                <a:solidFill>
                  <a:srgbClr val="5F5F5F"/>
                </a:solidFill>
                <a:latin typeface="Poppins"/>
              </a:rPr>
              <a:t>Four credentials spanning provider and private equity, from a $4B transaction to under $50M — both buy-side diligence and post-merger execution.</a:t>
            </a:r>
          </a:p>
        </p:txBody>
      </p:sp>
      <p:sp>
        <p:nvSpPr>
          <p:cNvPr id="14" name="Rectangle 13"/>
          <p:cNvSpPr/>
          <p:nvPr/>
        </p:nvSpPr>
        <p:spPr>
          <a:xfrm>
            <a:off x="274320" y="1426464"/>
            <a:ext cx="4160520" cy="2651760"/>
          </a:xfrm>
          <a:prstGeom prst="rect">
            <a:avLst/>
          </a:prstGeom>
          <a:solidFill>
            <a:srgbClr val="FFFFFF"/>
          </a:solidFill>
          <a:ln w="9525">
            <a:solidFill>
              <a:srgbClr val="D1D4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274320" y="1426464"/>
            <a:ext cx="4160520" cy="310896"/>
          </a:xfrm>
          <a:prstGeom prst="rect">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7472" y="1444752"/>
            <a:ext cx="4014215" cy="274320"/>
          </a:xfrm>
          <a:prstGeom prst="rect">
            <a:avLst/>
          </a:prstGeom>
          <a:noFill/>
        </p:spPr>
        <p:txBody>
          <a:bodyPr wrap="square" lIns="45720" rIns="45720" anchor="ctr">
            <a:spAutoFit/>
          </a:bodyPr>
          <a:lstStyle/>
          <a:p>
            <a:pPr algn="l">
              <a:spcBef>
                <a:spcPts val="0"/>
              </a:spcBef>
              <a:spcAft>
                <a:spcPts val="0"/>
              </a:spcAft>
            </a:pPr>
            <a:r>
              <a:rPr sz="1100" b="1" i="0">
                <a:solidFill>
                  <a:srgbClr val="FFFFFF"/>
                </a:solidFill>
                <a:latin typeface="Poppins"/>
              </a:rPr>
              <a:t>Aberdeen Capabilities</a:t>
            </a:r>
          </a:p>
        </p:txBody>
      </p:sp>
      <p:sp>
        <p:nvSpPr>
          <p:cNvPr id="17" name="TextBox 16"/>
          <p:cNvSpPr txBox="1"/>
          <p:nvPr/>
        </p:nvSpPr>
        <p:spPr>
          <a:xfrm>
            <a:off x="384048" y="1792224"/>
            <a:ext cx="3968496" cy="2212848"/>
          </a:xfrm>
          <a:prstGeom prst="rect">
            <a:avLst/>
          </a:prstGeom>
          <a:noFill/>
        </p:spPr>
        <p:txBody>
          <a:bodyPr wrap="square" lIns="45720" rIns="45720" anchor="t">
            <a:spAutoFit/>
          </a:bodyPr>
          <a:lstStyle/>
          <a:p>
            <a:pPr algn="l">
              <a:spcBef>
                <a:spcPts val="0"/>
              </a:spcBef>
              <a:spcAft>
                <a:spcPts val="600"/>
              </a:spcAft>
            </a:pPr>
            <a:r>
              <a:rPr sz="900" b="1" i="0">
                <a:solidFill>
                  <a:srgbClr val="03C0C1"/>
                </a:solidFill>
                <a:latin typeface="Poppins"/>
              </a:rPr>
              <a:t>▪  </a:t>
            </a:r>
            <a:r>
              <a:rPr sz="900" b="1" i="0">
                <a:solidFill>
                  <a:srgbClr val="03CBFF"/>
                </a:solidFill>
                <a:latin typeface="Poppins"/>
              </a:rPr>
              <a:t>M&amp;A Enablement. </a:t>
            </a:r>
            <a:r>
              <a:rPr sz="900" b="0" i="0">
                <a:solidFill>
                  <a:srgbClr val="404040"/>
                </a:solidFill>
                <a:latin typeface="Poppins"/>
              </a:rPr>
              <a:t>IT Due Diligence, Integration Planning and Value Creation — the named service area for buy-side and post-deal technology work.</a:t>
            </a:r>
          </a:p>
          <a:p>
            <a:pPr algn="l">
              <a:spcBef>
                <a:spcPts val="0"/>
              </a:spcBef>
              <a:spcAft>
                <a:spcPts val="600"/>
              </a:spcAft>
            </a:pPr>
            <a:r>
              <a:rPr sz="900" b="1" i="0">
                <a:solidFill>
                  <a:srgbClr val="03C0C1"/>
                </a:solidFill>
                <a:latin typeface="Poppins"/>
              </a:rPr>
              <a:t>▪  </a:t>
            </a:r>
            <a:r>
              <a:rPr sz="900" b="1" i="0">
                <a:solidFill>
                  <a:srgbClr val="03CBFF"/>
                </a:solidFill>
                <a:latin typeface="Poppins"/>
              </a:rPr>
              <a:t>Integration planning. </a:t>
            </a:r>
            <a:r>
              <a:rPr sz="900" b="0" i="0">
                <a:solidFill>
                  <a:srgbClr val="404040"/>
                </a:solidFill>
                <a:latin typeface="Poppins"/>
              </a:rPr>
              <a:t>Standing up the management structure, cadence and visibility that keeps an integration on a plan someone owns.</a:t>
            </a:r>
          </a:p>
          <a:p>
            <a:pPr algn="l">
              <a:spcBef>
                <a:spcPts val="0"/>
              </a:spcBef>
              <a:spcAft>
                <a:spcPts val="600"/>
              </a:spcAft>
            </a:pPr>
            <a:r>
              <a:rPr sz="900" b="1" i="0">
                <a:solidFill>
                  <a:srgbClr val="03C0C1"/>
                </a:solidFill>
                <a:latin typeface="Poppins"/>
              </a:rPr>
              <a:t>▪  </a:t>
            </a:r>
            <a:r>
              <a:rPr sz="900" b="1" i="0">
                <a:solidFill>
                  <a:srgbClr val="03CBFF"/>
                </a:solidFill>
                <a:latin typeface="Poppins"/>
              </a:rPr>
              <a:t>Separation discipline. </a:t>
            </a:r>
            <a:r>
              <a:rPr sz="900" b="0" i="0">
                <a:solidFill>
                  <a:srgbClr val="404040"/>
                </a:solidFill>
                <a:latin typeface="Poppins"/>
              </a:rPr>
              <a:t>Carving out divested activities cleanly, including the transition of certain activities to manufacturing agreements that Arkema has already disclosed inside its Coating Solutions price effect.</a:t>
            </a:r>
          </a:p>
          <a:p>
            <a:pPr algn="l">
              <a:spcBef>
                <a:spcPts val="0"/>
              </a:spcBef>
              <a:spcAft>
                <a:spcPts val="600"/>
              </a:spcAft>
            </a:pPr>
            <a:r>
              <a:rPr sz="900" b="1" i="0">
                <a:solidFill>
                  <a:srgbClr val="03C0C1"/>
                </a:solidFill>
                <a:latin typeface="Poppins"/>
              </a:rPr>
              <a:t>▪  </a:t>
            </a:r>
            <a:r>
              <a:rPr sz="900" b="1" i="0">
                <a:solidFill>
                  <a:srgbClr val="03CBFF"/>
                </a:solidFill>
                <a:latin typeface="Poppins"/>
              </a:rPr>
              <a:t>Value creation tracking. </a:t>
            </a:r>
            <a:r>
              <a:rPr sz="900" b="0" i="0">
                <a:solidFill>
                  <a:srgbClr val="404040"/>
                </a:solidFill>
                <a:latin typeface="Poppins"/>
              </a:rPr>
              <a:t>Making the deal case measurable after close rather than at close.</a:t>
            </a:r>
          </a:p>
        </p:txBody>
      </p:sp>
      <p:sp>
        <p:nvSpPr>
          <p:cNvPr id="18" name="Rectangle 17"/>
          <p:cNvSpPr/>
          <p:nvPr/>
        </p:nvSpPr>
        <p:spPr>
          <a:xfrm>
            <a:off x="4617720" y="1426464"/>
            <a:ext cx="4160520" cy="2651760"/>
          </a:xfrm>
          <a:prstGeom prst="rect">
            <a:avLst/>
          </a:prstGeom>
          <a:solidFill>
            <a:srgbClr val="FFFFFF"/>
          </a:solidFill>
          <a:ln w="9525">
            <a:solidFill>
              <a:srgbClr val="D1D4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617720" y="1426464"/>
            <a:ext cx="4160520" cy="310896"/>
          </a:xfrm>
          <a:prstGeom prst="rect">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690872" y="1444752"/>
            <a:ext cx="4014215" cy="274320"/>
          </a:xfrm>
          <a:prstGeom prst="rect">
            <a:avLst/>
          </a:prstGeom>
          <a:noFill/>
        </p:spPr>
        <p:txBody>
          <a:bodyPr wrap="square" lIns="45720" rIns="45720" anchor="ctr">
            <a:spAutoFit/>
          </a:bodyPr>
          <a:lstStyle/>
          <a:p>
            <a:pPr algn="l">
              <a:spcBef>
                <a:spcPts val="0"/>
              </a:spcBef>
              <a:spcAft>
                <a:spcPts val="0"/>
              </a:spcAft>
            </a:pPr>
            <a:r>
              <a:rPr sz="1100" b="1" i="0">
                <a:solidFill>
                  <a:srgbClr val="FFFFFF"/>
                </a:solidFill>
                <a:latin typeface="Poppins"/>
              </a:rPr>
              <a:t>Select Aberdeen Experience</a:t>
            </a:r>
          </a:p>
        </p:txBody>
      </p:sp>
      <p:sp>
        <p:nvSpPr>
          <p:cNvPr id="21" name="TextBox 20"/>
          <p:cNvSpPr txBox="1"/>
          <p:nvPr/>
        </p:nvSpPr>
        <p:spPr>
          <a:xfrm>
            <a:off x="4727448" y="1792224"/>
            <a:ext cx="3968496" cy="2212848"/>
          </a:xfrm>
          <a:prstGeom prst="rect">
            <a:avLst/>
          </a:prstGeom>
          <a:noFill/>
        </p:spPr>
        <p:txBody>
          <a:bodyPr wrap="square" lIns="45720" rIns="45720" anchor="t">
            <a:spAutoFit/>
          </a:bodyPr>
          <a:lstStyle/>
          <a:p>
            <a:pPr algn="l">
              <a:spcBef>
                <a:spcPts val="0"/>
              </a:spcBef>
              <a:spcAft>
                <a:spcPts val="600"/>
              </a:spcAft>
            </a:pPr>
            <a:r>
              <a:rPr sz="900" b="1" i="0">
                <a:solidFill>
                  <a:srgbClr val="03C0C1"/>
                </a:solidFill>
                <a:latin typeface="Poppins"/>
              </a:rPr>
              <a:t>▪  </a:t>
            </a:r>
            <a:r>
              <a:rPr sz="900" b="0" i="0">
                <a:solidFill>
                  <a:srgbClr val="404040"/>
                </a:solidFill>
                <a:latin typeface="Poppins"/>
              </a:rPr>
              <a:t>Stood up a “digital management office” to guide post-merger IT integration planning in a $4B transaction</a:t>
            </a:r>
            <a:r>
              <a:rPr sz="900" b="1" i="0">
                <a:solidFill>
                  <a:srgbClr val="09375F"/>
                </a:solidFill>
                <a:latin typeface="Poppins"/>
              </a:rPr>
              <a:t>  — Provider, $5B+</a:t>
            </a:r>
          </a:p>
          <a:p>
            <a:pPr algn="l">
              <a:spcBef>
                <a:spcPts val="0"/>
              </a:spcBef>
              <a:spcAft>
                <a:spcPts val="600"/>
              </a:spcAft>
            </a:pPr>
            <a:r>
              <a:rPr sz="900" b="1" i="0">
                <a:solidFill>
                  <a:srgbClr val="03C0C1"/>
                </a:solidFill>
                <a:latin typeface="Poppins"/>
              </a:rPr>
              <a:t>▪  </a:t>
            </a:r>
            <a:r>
              <a:rPr sz="900" b="0" i="0">
                <a:solidFill>
                  <a:srgbClr val="404040"/>
                </a:solidFill>
                <a:latin typeface="Poppins"/>
              </a:rPr>
              <a:t>Post-merger integration execution for a private equity owner acquiring a diagnostic imaging equipment manufacturer</a:t>
            </a:r>
            <a:r>
              <a:rPr sz="900" b="1" i="0">
                <a:solidFill>
                  <a:srgbClr val="09375F"/>
                </a:solidFill>
                <a:latin typeface="Poppins"/>
              </a:rPr>
              <a:t>  — Private Equity, &lt;$50M</a:t>
            </a:r>
          </a:p>
          <a:p>
            <a:pPr algn="l">
              <a:spcBef>
                <a:spcPts val="0"/>
              </a:spcBef>
              <a:spcAft>
                <a:spcPts val="600"/>
              </a:spcAft>
            </a:pPr>
            <a:r>
              <a:rPr sz="900" b="1" i="0">
                <a:solidFill>
                  <a:srgbClr val="03C0C1"/>
                </a:solidFill>
                <a:latin typeface="Poppins"/>
              </a:rPr>
              <a:t>▪  </a:t>
            </a:r>
            <a:r>
              <a:rPr sz="900" b="0" i="0">
                <a:solidFill>
                  <a:srgbClr val="404040"/>
                </a:solidFill>
                <a:latin typeface="Poppins"/>
              </a:rPr>
              <a:t>Buy-side IT due diligence for a private equity acquirer</a:t>
            </a:r>
            <a:r>
              <a:rPr sz="900" b="1" i="0">
                <a:solidFill>
                  <a:srgbClr val="09375F"/>
                </a:solidFill>
                <a:latin typeface="Poppins"/>
              </a:rPr>
              <a:t>  — Private Equity, $50–500M</a:t>
            </a:r>
          </a:p>
          <a:p>
            <a:pPr algn="l">
              <a:spcBef>
                <a:spcPts val="0"/>
              </a:spcBef>
              <a:spcAft>
                <a:spcPts val="600"/>
              </a:spcAft>
            </a:pPr>
            <a:r>
              <a:rPr sz="900" b="1" i="0">
                <a:solidFill>
                  <a:srgbClr val="03C0C1"/>
                </a:solidFill>
                <a:latin typeface="Poppins"/>
              </a:rPr>
              <a:t>▪  </a:t>
            </a:r>
            <a:r>
              <a:rPr sz="900" b="0" i="0">
                <a:solidFill>
                  <a:srgbClr val="404040"/>
                </a:solidFill>
                <a:latin typeface="Poppins"/>
              </a:rPr>
              <a:t>Designed and stood up a Transformation Management Office for post-merger integration</a:t>
            </a:r>
            <a:r>
              <a:rPr sz="900" b="1" i="0">
                <a:solidFill>
                  <a:srgbClr val="09375F"/>
                </a:solidFill>
                <a:latin typeface="Poppins"/>
              </a:rPr>
              <a:t>  — Provider, $5B+</a:t>
            </a:r>
          </a:p>
        </p:txBody>
      </p:sp>
      <p:sp>
        <p:nvSpPr>
          <p:cNvPr id="22" name="TextBox 21"/>
          <p:cNvSpPr txBox="1"/>
          <p:nvPr/>
        </p:nvSpPr>
        <p:spPr>
          <a:xfrm>
            <a:off x="274320" y="4169663"/>
            <a:ext cx="8503920" cy="402336"/>
          </a:xfrm>
          <a:prstGeom prst="rect">
            <a:avLst/>
          </a:prstGeom>
          <a:noFill/>
        </p:spPr>
        <p:txBody>
          <a:bodyPr wrap="square" lIns="45720" rIns="45720" anchor="t">
            <a:spAutoFit/>
          </a:bodyPr>
          <a:lstStyle/>
          <a:p>
            <a:pPr algn="l">
              <a:spcBef>
                <a:spcPts val="0"/>
              </a:spcBef>
              <a:spcAft>
                <a:spcPts val="0"/>
              </a:spcAft>
            </a:pPr>
            <a:r>
              <a:rPr sz="750" b="0" i="0">
                <a:solidFill>
                  <a:srgbClr val="5F5F5F"/>
                </a:solidFill>
                <a:latin typeface="Poppins"/>
              </a:rPr>
              <a:t>Arkema figures: scope effect negative 0.7% and the 1 July divestment, p.2; negative 4.2% sales impact and the manufacturing-agreement effect in Coating Solutions, p.4; Dow adhesives, p.1. Credentials are anonymised to client type and revenue band and are not Arkema engagements.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5720"/>
            <a:ext cx="9144000" cy="18288"/>
          </a:xfrm>
          <a:prstGeom prst="rect">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274320" y="201168"/>
            <a:ext cx="8595360" cy="402336"/>
          </a:xfrm>
          <a:prstGeom prst="rect">
            <a:avLst/>
          </a:prstGeom>
          <a:noFill/>
        </p:spPr>
        <p:txBody>
          <a:bodyPr wrap="square" lIns="45720" rIns="45720" anchor="t">
            <a:spAutoFit/>
          </a:bodyPr>
          <a:lstStyle/>
          <a:p>
            <a:pPr algn="l">
              <a:spcBef>
                <a:spcPts val="0"/>
              </a:spcBef>
              <a:spcAft>
                <a:spcPts val="0"/>
              </a:spcAft>
            </a:pPr>
            <a:r>
              <a:rPr sz="2400" b="1" i="0">
                <a:solidFill>
                  <a:srgbClr val="09375F"/>
                </a:solidFill>
                <a:latin typeface="Poppins"/>
              </a:rPr>
              <a:t>Topic 2 — Five projects, one capital ceiling</a:t>
            </a:r>
          </a:p>
        </p:txBody>
      </p:sp>
      <p:sp>
        <p:nvSpPr>
          <p:cNvPr id="4" name="TextBox 3"/>
          <p:cNvSpPr txBox="1"/>
          <p:nvPr/>
        </p:nvSpPr>
        <p:spPr>
          <a:xfrm>
            <a:off x="274320" y="621792"/>
            <a:ext cx="8595360" cy="365760"/>
          </a:xfrm>
          <a:prstGeom prst="rect">
            <a:avLst/>
          </a:prstGeom>
          <a:noFill/>
        </p:spPr>
        <p:txBody>
          <a:bodyPr wrap="square" lIns="45720" rIns="45720" anchor="t">
            <a:spAutoFit/>
          </a:bodyPr>
          <a:lstStyle/>
          <a:p>
            <a:pPr algn="l">
              <a:spcBef>
                <a:spcPts val="0"/>
              </a:spcBef>
              <a:spcAft>
                <a:spcPts val="0"/>
              </a:spcAft>
            </a:pPr>
            <a:r>
              <a:rPr sz="1200" b="0" i="0">
                <a:solidFill>
                  <a:srgbClr val="09375F"/>
                </a:solidFill>
                <a:latin typeface="Poppins"/>
              </a:rPr>
              <a:t>Five major projects are in simultaneous ramp-up, contributing around €25m of EBITDA in H1 and an expected €50m for the full year, inside a €600m capex limit for 2026.</a:t>
            </a:r>
          </a:p>
        </p:txBody>
      </p:sp>
      <p:pic>
        <p:nvPicPr>
          <p:cNvPr id="5" name="Picture 4" descr="arkema_logo.png"/>
          <p:cNvPicPr>
            <a:picLocks noChangeAspect="1"/>
          </p:cNvPicPr>
          <p:nvPr/>
        </p:nvPicPr>
        <p:blipFill>
          <a:blip r:embed="rId2"/>
          <a:stretch>
            <a:fillRect/>
          </a:stretch>
        </p:blipFill>
        <p:spPr>
          <a:xfrm>
            <a:off x="274320" y="4828032"/>
            <a:ext cx="559333" cy="169164"/>
          </a:xfrm>
          <a:prstGeom prst="rect">
            <a:avLst/>
          </a:prstGeom>
        </p:spPr>
      </p:pic>
      <p:pic>
        <p:nvPicPr>
          <p:cNvPr id="6" name="Picture 5" descr="aberdeen_logo.png"/>
          <p:cNvPicPr>
            <a:picLocks noChangeAspect="1"/>
          </p:cNvPicPr>
          <p:nvPr/>
        </p:nvPicPr>
        <p:blipFill>
          <a:blip r:embed="rId3"/>
          <a:stretch>
            <a:fillRect/>
          </a:stretch>
        </p:blipFill>
        <p:spPr>
          <a:xfrm>
            <a:off x="7818120" y="4791456"/>
            <a:ext cx="868680" cy="195856"/>
          </a:xfrm>
          <a:prstGeom prst="rect">
            <a:avLst/>
          </a:prstGeom>
        </p:spPr>
      </p:pic>
      <p:sp>
        <p:nvSpPr>
          <p:cNvPr id="7" name="TextBox 6"/>
          <p:cNvSpPr txBox="1"/>
          <p:nvPr/>
        </p:nvSpPr>
        <p:spPr>
          <a:xfrm>
            <a:off x="2103120" y="4846320"/>
            <a:ext cx="5577840" cy="182880"/>
          </a:xfrm>
          <a:prstGeom prst="rect">
            <a:avLst/>
          </a:prstGeom>
          <a:noFill/>
        </p:spPr>
        <p:txBody>
          <a:bodyPr wrap="square" lIns="45720" rIns="45720" anchor="t">
            <a:spAutoFit/>
          </a:bodyPr>
          <a:lstStyle/>
          <a:p>
            <a:pPr algn="ctr">
              <a:spcBef>
                <a:spcPts val="0"/>
              </a:spcBef>
              <a:spcAft>
                <a:spcPts val="0"/>
              </a:spcAft>
            </a:pPr>
            <a:r>
              <a:rPr sz="700" b="1" i="0">
                <a:solidFill>
                  <a:srgbClr val="5F5F5F"/>
                </a:solidFill>
                <a:latin typeface="Poppins"/>
              </a:rPr>
              <a:t>PROVISIONAL — PENDING REVIEW</a:t>
            </a:r>
            <a:r>
              <a:rPr sz="700" b="0" i="0">
                <a:solidFill>
                  <a:srgbClr val="5F5F5F"/>
                </a:solidFill>
                <a:latin typeface="Poppins"/>
              </a:rPr>
              <a:t>   ·   CONFIDENTIAL  ·  Aberdeen Advisors  ·  2026</a:t>
            </a:r>
          </a:p>
        </p:txBody>
      </p:sp>
      <p:sp>
        <p:nvSpPr>
          <p:cNvPr id="8" name="TextBox 7"/>
          <p:cNvSpPr txBox="1"/>
          <p:nvPr/>
        </p:nvSpPr>
        <p:spPr>
          <a:xfrm>
            <a:off x="8686800" y="4828032"/>
            <a:ext cx="320040" cy="182880"/>
          </a:xfrm>
          <a:prstGeom prst="rect">
            <a:avLst/>
          </a:prstGeom>
          <a:noFill/>
        </p:spPr>
        <p:txBody>
          <a:bodyPr wrap="square" lIns="45720" rIns="45720" anchor="t">
            <a:spAutoFit/>
          </a:bodyPr>
          <a:lstStyle/>
          <a:p>
            <a:pPr algn="r">
              <a:spcBef>
                <a:spcPts val="0"/>
              </a:spcBef>
              <a:spcAft>
                <a:spcPts val="0"/>
              </a:spcAft>
            </a:pPr>
            <a:r>
              <a:rPr sz="800" b="0" i="0">
                <a:solidFill>
                  <a:srgbClr val="5F5F5F"/>
                </a:solidFill>
                <a:latin typeface="Poppins"/>
              </a:rPr>
              <a:t>8</a:t>
            </a:r>
          </a:p>
        </p:txBody>
      </p:sp>
      <p:sp>
        <p:nvSpPr>
          <p:cNvPr id="9" name="Oval 8"/>
          <p:cNvSpPr/>
          <p:nvPr/>
        </p:nvSpPr>
        <p:spPr>
          <a:xfrm>
            <a:off x="7918704" y="1060704"/>
            <a:ext cx="256032" cy="256032"/>
          </a:xfrm>
          <a:prstGeom prst="ellipse">
            <a:avLst/>
          </a:prstGeom>
          <a:noFill/>
          <a:ln w="9525">
            <a:solidFill>
              <a:srgbClr val="D1D4D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5F5F5F"/>
                </a:solidFill>
                <a:latin typeface="Poppins"/>
              </a:rPr>
              <a:t>1</a:t>
            </a:r>
          </a:p>
        </p:txBody>
      </p:sp>
      <p:sp>
        <p:nvSpPr>
          <p:cNvPr id="10" name="Oval 9"/>
          <p:cNvSpPr/>
          <p:nvPr/>
        </p:nvSpPr>
        <p:spPr>
          <a:xfrm>
            <a:off x="8229600" y="1060704"/>
            <a:ext cx="256032" cy="256032"/>
          </a:xfrm>
          <a:prstGeom prst="ellipse">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FFFFFF"/>
                </a:solidFill>
                <a:latin typeface="Poppins"/>
              </a:rPr>
              <a:t>2</a:t>
            </a:r>
          </a:p>
        </p:txBody>
      </p:sp>
      <p:sp>
        <p:nvSpPr>
          <p:cNvPr id="11" name="Oval 10"/>
          <p:cNvSpPr/>
          <p:nvPr/>
        </p:nvSpPr>
        <p:spPr>
          <a:xfrm>
            <a:off x="8540496" y="1060704"/>
            <a:ext cx="256032" cy="256032"/>
          </a:xfrm>
          <a:prstGeom prst="ellipse">
            <a:avLst/>
          </a:prstGeom>
          <a:noFill/>
          <a:ln w="9525">
            <a:solidFill>
              <a:srgbClr val="D1D4D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5F5F5F"/>
                </a:solidFill>
                <a:latin typeface="Poppins"/>
              </a:rPr>
              <a:t>3</a:t>
            </a:r>
          </a:p>
        </p:txBody>
      </p:sp>
      <p:sp>
        <p:nvSpPr>
          <p:cNvPr id="12" name="Rectangle 11"/>
          <p:cNvSpPr/>
          <p:nvPr/>
        </p:nvSpPr>
        <p:spPr>
          <a:xfrm>
            <a:off x="274320" y="1060704"/>
            <a:ext cx="2103120" cy="256032"/>
          </a:xfrm>
          <a:prstGeom prst="rect">
            <a:avLst/>
          </a:prstGeom>
          <a:noFill/>
          <a:ln w="12700">
            <a:solidFill>
              <a:srgbClr val="00A67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sz="850" b="1">
                <a:solidFill>
                  <a:srgbClr val="00A676"/>
                </a:solidFill>
                <a:latin typeface="Poppins"/>
              </a:rPr>
              <a:t>Proof: Strong</a:t>
            </a:r>
          </a:p>
        </p:txBody>
      </p:sp>
      <p:sp>
        <p:nvSpPr>
          <p:cNvPr id="13" name="TextBox 12"/>
          <p:cNvSpPr txBox="1"/>
          <p:nvPr/>
        </p:nvSpPr>
        <p:spPr>
          <a:xfrm>
            <a:off x="2487168" y="1060704"/>
            <a:ext cx="5349240" cy="329184"/>
          </a:xfrm>
          <a:prstGeom prst="rect">
            <a:avLst/>
          </a:prstGeom>
          <a:noFill/>
        </p:spPr>
        <p:txBody>
          <a:bodyPr wrap="square" lIns="45720" rIns="45720" anchor="t">
            <a:spAutoFit/>
          </a:bodyPr>
          <a:lstStyle/>
          <a:p>
            <a:pPr algn="l">
              <a:spcBef>
                <a:spcPts val="0"/>
              </a:spcBef>
              <a:spcAft>
                <a:spcPts val="0"/>
              </a:spcAft>
            </a:pPr>
            <a:r>
              <a:rPr sz="850" b="0" i="0">
                <a:solidFill>
                  <a:srgbClr val="5F5F5F"/>
                </a:solidFill>
                <a:latin typeface="Poppins"/>
              </a:rPr>
              <a:t>Strong in enterprise technology programs — not in industrial capital projects. The distinction should be made in the room.</a:t>
            </a:r>
          </a:p>
        </p:txBody>
      </p:sp>
      <p:sp>
        <p:nvSpPr>
          <p:cNvPr id="14" name="Rectangle 13"/>
          <p:cNvSpPr/>
          <p:nvPr/>
        </p:nvSpPr>
        <p:spPr>
          <a:xfrm>
            <a:off x="274320" y="1426464"/>
            <a:ext cx="4160520" cy="2651760"/>
          </a:xfrm>
          <a:prstGeom prst="rect">
            <a:avLst/>
          </a:prstGeom>
          <a:solidFill>
            <a:srgbClr val="FFFFFF"/>
          </a:solidFill>
          <a:ln w="9525">
            <a:solidFill>
              <a:srgbClr val="D1D4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274320" y="1426464"/>
            <a:ext cx="4160520" cy="310896"/>
          </a:xfrm>
          <a:prstGeom prst="rect">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7472" y="1444752"/>
            <a:ext cx="4014215" cy="274320"/>
          </a:xfrm>
          <a:prstGeom prst="rect">
            <a:avLst/>
          </a:prstGeom>
          <a:noFill/>
        </p:spPr>
        <p:txBody>
          <a:bodyPr wrap="square" lIns="45720" rIns="45720" anchor="ctr">
            <a:spAutoFit/>
          </a:bodyPr>
          <a:lstStyle/>
          <a:p>
            <a:pPr algn="l">
              <a:spcBef>
                <a:spcPts val="0"/>
              </a:spcBef>
              <a:spcAft>
                <a:spcPts val="0"/>
              </a:spcAft>
            </a:pPr>
            <a:r>
              <a:rPr sz="1100" b="1" i="0">
                <a:solidFill>
                  <a:srgbClr val="FFFFFF"/>
                </a:solidFill>
                <a:latin typeface="Poppins"/>
              </a:rPr>
              <a:t>Aberdeen Capabilities</a:t>
            </a:r>
          </a:p>
        </p:txBody>
      </p:sp>
      <p:sp>
        <p:nvSpPr>
          <p:cNvPr id="17" name="TextBox 16"/>
          <p:cNvSpPr txBox="1"/>
          <p:nvPr/>
        </p:nvSpPr>
        <p:spPr>
          <a:xfrm>
            <a:off x="384048" y="1792224"/>
            <a:ext cx="3968496" cy="2212848"/>
          </a:xfrm>
          <a:prstGeom prst="rect">
            <a:avLst/>
          </a:prstGeom>
          <a:noFill/>
        </p:spPr>
        <p:txBody>
          <a:bodyPr wrap="square" lIns="45720" rIns="45720" anchor="t">
            <a:spAutoFit/>
          </a:bodyPr>
          <a:lstStyle/>
          <a:p>
            <a:pPr algn="l">
              <a:spcBef>
                <a:spcPts val="0"/>
              </a:spcBef>
              <a:spcAft>
                <a:spcPts val="600"/>
              </a:spcAft>
            </a:pPr>
            <a:r>
              <a:rPr sz="900" b="1" i="0">
                <a:solidFill>
                  <a:srgbClr val="03C0C1"/>
                </a:solidFill>
                <a:latin typeface="Poppins"/>
              </a:rPr>
              <a:t>▪  </a:t>
            </a:r>
            <a:r>
              <a:rPr sz="900" b="1" i="0">
                <a:solidFill>
                  <a:srgbClr val="03CBFF"/>
                </a:solidFill>
                <a:latin typeface="Poppins"/>
              </a:rPr>
              <a:t>Large Program Assurance, Delivery, &amp; Change. </a:t>
            </a:r>
            <a:r>
              <a:rPr sz="900" b="0" i="0">
                <a:solidFill>
                  <a:srgbClr val="404040"/>
                </a:solidFill>
                <a:latin typeface="Poppins"/>
              </a:rPr>
              <a:t>The named service area covering EHR, ERP and digital transformations.</a:t>
            </a:r>
          </a:p>
          <a:p>
            <a:pPr algn="l">
              <a:spcBef>
                <a:spcPts val="0"/>
              </a:spcBef>
              <a:spcAft>
                <a:spcPts val="600"/>
              </a:spcAft>
            </a:pPr>
            <a:r>
              <a:rPr sz="900" b="1" i="0">
                <a:solidFill>
                  <a:srgbClr val="03C0C1"/>
                </a:solidFill>
                <a:latin typeface="Poppins"/>
              </a:rPr>
              <a:t>▪  </a:t>
            </a:r>
            <a:r>
              <a:rPr sz="900" b="1" i="0">
                <a:solidFill>
                  <a:srgbClr val="03CBFF"/>
                </a:solidFill>
                <a:latin typeface="Poppins"/>
              </a:rPr>
              <a:t>Implementation assurance. </a:t>
            </a:r>
            <a:r>
              <a:rPr sz="900" b="0" i="0">
                <a:solidFill>
                  <a:srgbClr val="404040"/>
                </a:solidFill>
                <a:latin typeface="Poppins"/>
              </a:rPr>
              <a:t>Independent project quality reviews across a portfolio of concurrent initiatives, so ramp-up risk surfaces before it reaches the EBITDA line.</a:t>
            </a:r>
          </a:p>
          <a:p>
            <a:pPr algn="l">
              <a:spcBef>
                <a:spcPts val="0"/>
              </a:spcBef>
              <a:spcAft>
                <a:spcPts val="600"/>
              </a:spcAft>
            </a:pPr>
            <a:r>
              <a:rPr sz="900" b="1" i="0">
                <a:solidFill>
                  <a:srgbClr val="03C0C1"/>
                </a:solidFill>
                <a:latin typeface="Poppins"/>
              </a:rPr>
              <a:t>▪  </a:t>
            </a:r>
            <a:r>
              <a:rPr sz="900" b="1" i="0">
                <a:solidFill>
                  <a:srgbClr val="03CBFF"/>
                </a:solidFill>
                <a:latin typeface="Poppins"/>
              </a:rPr>
              <a:t>Portfolio and demand discipline. </a:t>
            </a:r>
            <a:r>
              <a:rPr sz="900" b="0" i="0">
                <a:solidFill>
                  <a:srgbClr val="404040"/>
                </a:solidFill>
                <a:latin typeface="Poppins"/>
              </a:rPr>
              <a:t>Project and portfolio management with a single view of in-flight work when the capital envelope is fixed.</a:t>
            </a:r>
          </a:p>
          <a:p>
            <a:pPr algn="l">
              <a:spcBef>
                <a:spcPts val="0"/>
              </a:spcBef>
              <a:spcAft>
                <a:spcPts val="600"/>
              </a:spcAft>
            </a:pPr>
            <a:r>
              <a:rPr sz="900" b="1" i="0">
                <a:solidFill>
                  <a:srgbClr val="03C0C1"/>
                </a:solidFill>
                <a:latin typeface="Poppins"/>
              </a:rPr>
              <a:t>▪  </a:t>
            </a:r>
            <a:r>
              <a:rPr sz="900" b="1" i="0">
                <a:solidFill>
                  <a:srgbClr val="03CBFF"/>
                </a:solidFill>
                <a:latin typeface="Poppins"/>
              </a:rPr>
              <a:t>Delivery visibility. </a:t>
            </a:r>
            <a:r>
              <a:rPr sz="900" b="0" i="0">
                <a:solidFill>
                  <a:srgbClr val="404040"/>
                </a:solidFill>
                <a:latin typeface="Poppins"/>
              </a:rPr>
              <a:t>Analytics on in-flight projects and requested demand across source systems, so the ramp is reported the same way everywhere.</a:t>
            </a:r>
          </a:p>
        </p:txBody>
      </p:sp>
      <p:sp>
        <p:nvSpPr>
          <p:cNvPr id="18" name="Rectangle 17"/>
          <p:cNvSpPr/>
          <p:nvPr/>
        </p:nvSpPr>
        <p:spPr>
          <a:xfrm>
            <a:off x="4617720" y="1426464"/>
            <a:ext cx="4160520" cy="2651760"/>
          </a:xfrm>
          <a:prstGeom prst="rect">
            <a:avLst/>
          </a:prstGeom>
          <a:solidFill>
            <a:srgbClr val="FFFFFF"/>
          </a:solidFill>
          <a:ln w="9525">
            <a:solidFill>
              <a:srgbClr val="D1D4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617720" y="1426464"/>
            <a:ext cx="4160520" cy="310896"/>
          </a:xfrm>
          <a:prstGeom prst="rect">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690872" y="1444752"/>
            <a:ext cx="4014215" cy="274320"/>
          </a:xfrm>
          <a:prstGeom prst="rect">
            <a:avLst/>
          </a:prstGeom>
          <a:noFill/>
        </p:spPr>
        <p:txBody>
          <a:bodyPr wrap="square" lIns="45720" rIns="45720" anchor="ctr">
            <a:spAutoFit/>
          </a:bodyPr>
          <a:lstStyle/>
          <a:p>
            <a:pPr algn="l">
              <a:spcBef>
                <a:spcPts val="0"/>
              </a:spcBef>
              <a:spcAft>
                <a:spcPts val="0"/>
              </a:spcAft>
            </a:pPr>
            <a:r>
              <a:rPr sz="1100" b="1" i="0">
                <a:solidFill>
                  <a:srgbClr val="FFFFFF"/>
                </a:solidFill>
                <a:latin typeface="Poppins"/>
              </a:rPr>
              <a:t>Select Aberdeen Experience</a:t>
            </a:r>
          </a:p>
        </p:txBody>
      </p:sp>
      <p:sp>
        <p:nvSpPr>
          <p:cNvPr id="21" name="TextBox 20"/>
          <p:cNvSpPr txBox="1"/>
          <p:nvPr/>
        </p:nvSpPr>
        <p:spPr>
          <a:xfrm>
            <a:off x="4727448" y="1792224"/>
            <a:ext cx="3968496" cy="2212848"/>
          </a:xfrm>
          <a:prstGeom prst="rect">
            <a:avLst/>
          </a:prstGeom>
          <a:noFill/>
        </p:spPr>
        <p:txBody>
          <a:bodyPr wrap="square" lIns="45720" rIns="45720" anchor="t">
            <a:spAutoFit/>
          </a:bodyPr>
          <a:lstStyle/>
          <a:p>
            <a:pPr algn="l">
              <a:spcBef>
                <a:spcPts val="0"/>
              </a:spcBef>
              <a:spcAft>
                <a:spcPts val="600"/>
              </a:spcAft>
            </a:pPr>
            <a:r>
              <a:rPr sz="900" b="1" i="0">
                <a:solidFill>
                  <a:srgbClr val="03C0C1"/>
                </a:solidFill>
                <a:latin typeface="Poppins"/>
              </a:rPr>
              <a:t>▪  </a:t>
            </a:r>
            <a:r>
              <a:rPr sz="900" b="0" i="0">
                <a:solidFill>
                  <a:srgbClr val="404040"/>
                </a:solidFill>
                <a:latin typeface="Poppins"/>
              </a:rPr>
              <a:t>Led project quality reviews and implementation assurance across all initiatives of a large-scale transformation</a:t>
            </a:r>
            <a:r>
              <a:rPr sz="900" b="1" i="0">
                <a:solidFill>
                  <a:srgbClr val="09375F"/>
                </a:solidFill>
                <a:latin typeface="Poppins"/>
              </a:rPr>
              <a:t>  — Provider, $5B+</a:t>
            </a:r>
          </a:p>
          <a:p>
            <a:pPr algn="l">
              <a:spcBef>
                <a:spcPts val="0"/>
              </a:spcBef>
              <a:spcAft>
                <a:spcPts val="600"/>
              </a:spcAft>
            </a:pPr>
            <a:r>
              <a:rPr sz="900" b="1" i="0">
                <a:solidFill>
                  <a:srgbClr val="03C0C1"/>
                </a:solidFill>
                <a:latin typeface="Poppins"/>
              </a:rPr>
              <a:t>▪  </a:t>
            </a:r>
            <a:r>
              <a:rPr sz="900" b="0" i="0">
                <a:solidFill>
                  <a:srgbClr val="404040"/>
                </a:solidFill>
                <a:latin typeface="Poppins"/>
              </a:rPr>
              <a:t>ERP transformation for the world's largest retailer, serving customers in 23 different countries — roadmap definition through implementation</a:t>
            </a:r>
            <a:r>
              <a:rPr sz="900" b="1" i="0">
                <a:solidFill>
                  <a:srgbClr val="09375F"/>
                </a:solidFill>
                <a:latin typeface="Poppins"/>
              </a:rPr>
              <a:t>  — Retail</a:t>
            </a:r>
          </a:p>
          <a:p>
            <a:pPr algn="l">
              <a:spcBef>
                <a:spcPts val="0"/>
              </a:spcBef>
              <a:spcAft>
                <a:spcPts val="600"/>
              </a:spcAft>
            </a:pPr>
            <a:r>
              <a:rPr sz="900" b="1" i="0">
                <a:solidFill>
                  <a:srgbClr val="03C0C1"/>
                </a:solidFill>
                <a:latin typeface="Poppins"/>
              </a:rPr>
              <a:t>▪  </a:t>
            </a:r>
            <a:r>
              <a:rPr sz="900" b="0" i="0">
                <a:solidFill>
                  <a:srgbClr val="404040"/>
                </a:solidFill>
                <a:latin typeface="Poppins"/>
              </a:rPr>
              <a:t>SAP supply chain deployment across European manufacturing units, with global procurement processes delivering around $2.5M a year of spend impact</a:t>
            </a:r>
            <a:r>
              <a:rPr sz="900" b="1" i="0">
                <a:solidFill>
                  <a:srgbClr val="09375F"/>
                </a:solidFill>
                <a:latin typeface="Poppins"/>
              </a:rPr>
              <a:t>  — Consumer goods</a:t>
            </a:r>
          </a:p>
          <a:p>
            <a:pPr algn="l">
              <a:spcBef>
                <a:spcPts val="0"/>
              </a:spcBef>
              <a:spcAft>
                <a:spcPts val="600"/>
              </a:spcAft>
            </a:pPr>
            <a:r>
              <a:rPr sz="900" b="1" i="0">
                <a:solidFill>
                  <a:srgbClr val="03C0C1"/>
                </a:solidFill>
                <a:latin typeface="Poppins"/>
              </a:rPr>
              <a:t>▪  </a:t>
            </a:r>
            <a:r>
              <a:rPr sz="900" b="0" i="0">
                <a:solidFill>
                  <a:srgbClr val="404040"/>
                </a:solidFill>
                <a:latin typeface="Poppins"/>
              </a:rPr>
              <a:t>Power BI analytics cockpit for all in-flight projects and requested demand across four source systems</a:t>
            </a:r>
            <a:r>
              <a:rPr sz="900" b="1" i="0">
                <a:solidFill>
                  <a:srgbClr val="09375F"/>
                </a:solidFill>
                <a:latin typeface="Poppins"/>
              </a:rPr>
              <a:t>  — Provider, $5B+</a:t>
            </a:r>
          </a:p>
        </p:txBody>
      </p:sp>
      <p:sp>
        <p:nvSpPr>
          <p:cNvPr id="22" name="TextBox 21"/>
          <p:cNvSpPr txBox="1"/>
          <p:nvPr/>
        </p:nvSpPr>
        <p:spPr>
          <a:xfrm>
            <a:off x="274320" y="4169663"/>
            <a:ext cx="8503920" cy="402336"/>
          </a:xfrm>
          <a:prstGeom prst="rect">
            <a:avLst/>
          </a:prstGeom>
          <a:noFill/>
        </p:spPr>
        <p:txBody>
          <a:bodyPr wrap="square" lIns="45720" rIns="45720" anchor="t">
            <a:spAutoFit/>
          </a:bodyPr>
          <a:lstStyle/>
          <a:p>
            <a:pPr algn="l">
              <a:spcBef>
                <a:spcPts val="0"/>
              </a:spcBef>
              <a:spcAft>
                <a:spcPts val="0"/>
              </a:spcAft>
            </a:pPr>
            <a:r>
              <a:rPr sz="750" b="0" i="0">
                <a:solidFill>
                  <a:srgbClr val="5F5F5F"/>
                </a:solidFill>
                <a:latin typeface="Poppins"/>
              </a:rPr>
              <a:t>Arkema figures: the five projects and CEO commentary, p.1; around €25m H1 contribution, p.2; around €50m expected for 2026 and the €600m capex limit, p.5; capex €117m versus €152m, p.3. Credentials are anonymised to client type and revenue band and are not Arkema engagements.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5720"/>
            <a:ext cx="9144000" cy="18288"/>
          </a:xfrm>
          <a:prstGeom prst="rect">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274320" y="201168"/>
            <a:ext cx="8595360" cy="402336"/>
          </a:xfrm>
          <a:prstGeom prst="rect">
            <a:avLst/>
          </a:prstGeom>
          <a:noFill/>
        </p:spPr>
        <p:txBody>
          <a:bodyPr wrap="square" lIns="45720" rIns="45720" anchor="t">
            <a:spAutoFit/>
          </a:bodyPr>
          <a:lstStyle/>
          <a:p>
            <a:pPr algn="l">
              <a:spcBef>
                <a:spcPts val="0"/>
              </a:spcBef>
              <a:spcAft>
                <a:spcPts val="0"/>
              </a:spcAft>
            </a:pPr>
            <a:r>
              <a:rPr sz="2400" b="1" i="0">
                <a:solidFill>
                  <a:srgbClr val="09375F"/>
                </a:solidFill>
                <a:latin typeface="Poppins"/>
              </a:rPr>
              <a:t>Topic 3 — Cost and cash discipline</a:t>
            </a:r>
          </a:p>
        </p:txBody>
      </p:sp>
      <p:sp>
        <p:nvSpPr>
          <p:cNvPr id="4" name="TextBox 3"/>
          <p:cNvSpPr txBox="1"/>
          <p:nvPr/>
        </p:nvSpPr>
        <p:spPr>
          <a:xfrm>
            <a:off x="274320" y="621792"/>
            <a:ext cx="8595360" cy="365760"/>
          </a:xfrm>
          <a:prstGeom prst="rect">
            <a:avLst/>
          </a:prstGeom>
          <a:noFill/>
        </p:spPr>
        <p:txBody>
          <a:bodyPr wrap="square" lIns="45720" rIns="45720" anchor="t">
            <a:spAutoFit/>
          </a:bodyPr>
          <a:lstStyle/>
          <a:p>
            <a:pPr algn="l">
              <a:spcBef>
                <a:spcPts val="0"/>
              </a:spcBef>
              <a:spcAft>
                <a:spcPts val="0"/>
              </a:spcAft>
            </a:pPr>
            <a:r>
              <a:rPr sz="1200" b="0" i="0">
                <a:solidFill>
                  <a:srgbClr val="09375F"/>
                </a:solidFill>
                <a:latin typeface="Poppins"/>
              </a:rPr>
              <a:t>Fixed cost inflation is to be offset over the full year while the organization is streamlined — including a two-site reorganization — with cash allocation a stated focus.</a:t>
            </a:r>
          </a:p>
        </p:txBody>
      </p:sp>
      <p:pic>
        <p:nvPicPr>
          <p:cNvPr id="5" name="Picture 4" descr="arkema_logo.png"/>
          <p:cNvPicPr>
            <a:picLocks noChangeAspect="1"/>
          </p:cNvPicPr>
          <p:nvPr/>
        </p:nvPicPr>
        <p:blipFill>
          <a:blip r:embed="rId2"/>
          <a:stretch>
            <a:fillRect/>
          </a:stretch>
        </p:blipFill>
        <p:spPr>
          <a:xfrm>
            <a:off x="274320" y="4828032"/>
            <a:ext cx="559333" cy="169164"/>
          </a:xfrm>
          <a:prstGeom prst="rect">
            <a:avLst/>
          </a:prstGeom>
        </p:spPr>
      </p:pic>
      <p:pic>
        <p:nvPicPr>
          <p:cNvPr id="6" name="Picture 5" descr="aberdeen_logo.png"/>
          <p:cNvPicPr>
            <a:picLocks noChangeAspect="1"/>
          </p:cNvPicPr>
          <p:nvPr/>
        </p:nvPicPr>
        <p:blipFill>
          <a:blip r:embed="rId3"/>
          <a:stretch>
            <a:fillRect/>
          </a:stretch>
        </p:blipFill>
        <p:spPr>
          <a:xfrm>
            <a:off x="7818120" y="4791456"/>
            <a:ext cx="868680" cy="195856"/>
          </a:xfrm>
          <a:prstGeom prst="rect">
            <a:avLst/>
          </a:prstGeom>
        </p:spPr>
      </p:pic>
      <p:sp>
        <p:nvSpPr>
          <p:cNvPr id="7" name="TextBox 6"/>
          <p:cNvSpPr txBox="1"/>
          <p:nvPr/>
        </p:nvSpPr>
        <p:spPr>
          <a:xfrm>
            <a:off x="2103120" y="4846320"/>
            <a:ext cx="5577840" cy="182880"/>
          </a:xfrm>
          <a:prstGeom prst="rect">
            <a:avLst/>
          </a:prstGeom>
          <a:noFill/>
        </p:spPr>
        <p:txBody>
          <a:bodyPr wrap="square" lIns="45720" rIns="45720" anchor="t">
            <a:spAutoFit/>
          </a:bodyPr>
          <a:lstStyle/>
          <a:p>
            <a:pPr algn="ctr">
              <a:spcBef>
                <a:spcPts val="0"/>
              </a:spcBef>
              <a:spcAft>
                <a:spcPts val="0"/>
              </a:spcAft>
            </a:pPr>
            <a:r>
              <a:rPr sz="700" b="1" i="0">
                <a:solidFill>
                  <a:srgbClr val="5F5F5F"/>
                </a:solidFill>
                <a:latin typeface="Poppins"/>
              </a:rPr>
              <a:t>PROVISIONAL — PENDING REVIEW</a:t>
            </a:r>
            <a:r>
              <a:rPr sz="700" b="0" i="0">
                <a:solidFill>
                  <a:srgbClr val="5F5F5F"/>
                </a:solidFill>
                <a:latin typeface="Poppins"/>
              </a:rPr>
              <a:t>   ·   CONFIDENTIAL  ·  Aberdeen Advisors  ·  2026</a:t>
            </a:r>
          </a:p>
        </p:txBody>
      </p:sp>
      <p:sp>
        <p:nvSpPr>
          <p:cNvPr id="8" name="TextBox 7"/>
          <p:cNvSpPr txBox="1"/>
          <p:nvPr/>
        </p:nvSpPr>
        <p:spPr>
          <a:xfrm>
            <a:off x="8686800" y="4828032"/>
            <a:ext cx="320040" cy="182880"/>
          </a:xfrm>
          <a:prstGeom prst="rect">
            <a:avLst/>
          </a:prstGeom>
          <a:noFill/>
        </p:spPr>
        <p:txBody>
          <a:bodyPr wrap="square" lIns="45720" rIns="45720" anchor="t">
            <a:spAutoFit/>
          </a:bodyPr>
          <a:lstStyle/>
          <a:p>
            <a:pPr algn="r">
              <a:spcBef>
                <a:spcPts val="0"/>
              </a:spcBef>
              <a:spcAft>
                <a:spcPts val="0"/>
              </a:spcAft>
            </a:pPr>
            <a:r>
              <a:rPr sz="800" b="0" i="0">
                <a:solidFill>
                  <a:srgbClr val="5F5F5F"/>
                </a:solidFill>
                <a:latin typeface="Poppins"/>
              </a:rPr>
              <a:t>9</a:t>
            </a:r>
          </a:p>
        </p:txBody>
      </p:sp>
      <p:sp>
        <p:nvSpPr>
          <p:cNvPr id="9" name="Oval 8"/>
          <p:cNvSpPr/>
          <p:nvPr/>
        </p:nvSpPr>
        <p:spPr>
          <a:xfrm>
            <a:off x="7918704" y="1060704"/>
            <a:ext cx="256032" cy="256032"/>
          </a:xfrm>
          <a:prstGeom prst="ellipse">
            <a:avLst/>
          </a:prstGeom>
          <a:noFill/>
          <a:ln w="9525">
            <a:solidFill>
              <a:srgbClr val="D1D4D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5F5F5F"/>
                </a:solidFill>
                <a:latin typeface="Poppins"/>
              </a:rPr>
              <a:t>1</a:t>
            </a:r>
          </a:p>
        </p:txBody>
      </p:sp>
      <p:sp>
        <p:nvSpPr>
          <p:cNvPr id="10" name="Oval 9"/>
          <p:cNvSpPr/>
          <p:nvPr/>
        </p:nvSpPr>
        <p:spPr>
          <a:xfrm>
            <a:off x="8229600" y="1060704"/>
            <a:ext cx="256032" cy="256032"/>
          </a:xfrm>
          <a:prstGeom prst="ellipse">
            <a:avLst/>
          </a:prstGeom>
          <a:noFill/>
          <a:ln w="9525">
            <a:solidFill>
              <a:srgbClr val="D1D4DD"/>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5F5F5F"/>
                </a:solidFill>
                <a:latin typeface="Poppins"/>
              </a:rPr>
              <a:t>2</a:t>
            </a:r>
          </a:p>
        </p:txBody>
      </p:sp>
      <p:sp>
        <p:nvSpPr>
          <p:cNvPr id="11" name="Oval 10"/>
          <p:cNvSpPr/>
          <p:nvPr/>
        </p:nvSpPr>
        <p:spPr>
          <a:xfrm>
            <a:off x="8540496" y="1060704"/>
            <a:ext cx="256032" cy="256032"/>
          </a:xfrm>
          <a:prstGeom prst="ellipse">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FFFFFF"/>
                </a:solidFill>
                <a:latin typeface="Poppins"/>
              </a:rPr>
              <a:t>3</a:t>
            </a:r>
          </a:p>
        </p:txBody>
      </p:sp>
      <p:sp>
        <p:nvSpPr>
          <p:cNvPr id="12" name="Rectangle 11"/>
          <p:cNvSpPr/>
          <p:nvPr/>
        </p:nvSpPr>
        <p:spPr>
          <a:xfrm>
            <a:off x="274320" y="1060704"/>
            <a:ext cx="2103120" cy="256032"/>
          </a:xfrm>
          <a:prstGeom prst="rect">
            <a:avLst/>
          </a:prstGeom>
          <a:noFill/>
          <a:ln w="12700">
            <a:solidFill>
              <a:srgbClr val="F7CE0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sz="850" b="1">
                <a:solidFill>
                  <a:srgbClr val="09375F"/>
                </a:solidFill>
                <a:latin typeface="Poppins"/>
              </a:rPr>
              <a:t>Proof: Thin</a:t>
            </a:r>
          </a:p>
        </p:txBody>
      </p:sp>
      <p:sp>
        <p:nvSpPr>
          <p:cNvPr id="13" name="TextBox 12"/>
          <p:cNvSpPr txBox="1"/>
          <p:nvPr/>
        </p:nvSpPr>
        <p:spPr>
          <a:xfrm>
            <a:off x="2487168" y="1060704"/>
            <a:ext cx="5349240" cy="329184"/>
          </a:xfrm>
          <a:prstGeom prst="rect">
            <a:avLst/>
          </a:prstGeom>
          <a:noFill/>
        </p:spPr>
        <p:txBody>
          <a:bodyPr wrap="square" lIns="45720" rIns="45720" anchor="t">
            <a:spAutoFit/>
          </a:bodyPr>
          <a:lstStyle/>
          <a:p>
            <a:pPr algn="l">
              <a:spcBef>
                <a:spcPts val="0"/>
              </a:spcBef>
              <a:spcAft>
                <a:spcPts val="0"/>
              </a:spcAft>
            </a:pPr>
            <a:r>
              <a:rPr sz="850" b="0" i="0">
                <a:solidFill>
                  <a:srgbClr val="5F5F5F"/>
                </a:solidFill>
                <a:latin typeface="Poppins"/>
              </a:rPr>
              <a:t>Capability offered without implying a track record, per Aberdeen's own credential assessment (AberdeenOfferings.md §10).</a:t>
            </a:r>
          </a:p>
        </p:txBody>
      </p:sp>
      <p:sp>
        <p:nvSpPr>
          <p:cNvPr id="14" name="Rectangle 13"/>
          <p:cNvSpPr/>
          <p:nvPr/>
        </p:nvSpPr>
        <p:spPr>
          <a:xfrm>
            <a:off x="274320" y="1426464"/>
            <a:ext cx="4160520" cy="2651760"/>
          </a:xfrm>
          <a:prstGeom prst="rect">
            <a:avLst/>
          </a:prstGeom>
          <a:solidFill>
            <a:srgbClr val="FFFFFF"/>
          </a:solidFill>
          <a:ln w="9525">
            <a:solidFill>
              <a:srgbClr val="D1D4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274320" y="1426464"/>
            <a:ext cx="4160520" cy="310896"/>
          </a:xfrm>
          <a:prstGeom prst="rect">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47472" y="1444752"/>
            <a:ext cx="4014215" cy="274320"/>
          </a:xfrm>
          <a:prstGeom prst="rect">
            <a:avLst/>
          </a:prstGeom>
          <a:noFill/>
        </p:spPr>
        <p:txBody>
          <a:bodyPr wrap="square" lIns="45720" rIns="45720" anchor="ctr">
            <a:spAutoFit/>
          </a:bodyPr>
          <a:lstStyle/>
          <a:p>
            <a:pPr algn="l">
              <a:spcBef>
                <a:spcPts val="0"/>
              </a:spcBef>
              <a:spcAft>
                <a:spcPts val="0"/>
              </a:spcAft>
            </a:pPr>
            <a:r>
              <a:rPr sz="1100" b="1" i="0">
                <a:solidFill>
                  <a:srgbClr val="FFFFFF"/>
                </a:solidFill>
                <a:latin typeface="Poppins"/>
              </a:rPr>
              <a:t>Aberdeen Capabilities</a:t>
            </a:r>
          </a:p>
        </p:txBody>
      </p:sp>
      <p:sp>
        <p:nvSpPr>
          <p:cNvPr id="17" name="TextBox 16"/>
          <p:cNvSpPr txBox="1"/>
          <p:nvPr/>
        </p:nvSpPr>
        <p:spPr>
          <a:xfrm>
            <a:off x="384048" y="1792224"/>
            <a:ext cx="3968496" cy="2212848"/>
          </a:xfrm>
          <a:prstGeom prst="rect">
            <a:avLst/>
          </a:prstGeom>
          <a:noFill/>
        </p:spPr>
        <p:txBody>
          <a:bodyPr wrap="square" lIns="45720" rIns="45720" anchor="t">
            <a:spAutoFit/>
          </a:bodyPr>
          <a:lstStyle/>
          <a:p>
            <a:pPr algn="l">
              <a:spcBef>
                <a:spcPts val="0"/>
              </a:spcBef>
              <a:spcAft>
                <a:spcPts val="600"/>
              </a:spcAft>
            </a:pPr>
            <a:r>
              <a:rPr sz="900" b="1" i="0">
                <a:solidFill>
                  <a:srgbClr val="03C0C1"/>
                </a:solidFill>
                <a:latin typeface="Poppins"/>
              </a:rPr>
              <a:t>▪  </a:t>
            </a:r>
            <a:r>
              <a:rPr sz="900" b="1" i="0">
                <a:solidFill>
                  <a:srgbClr val="03CBFF"/>
                </a:solidFill>
                <a:latin typeface="Poppins"/>
              </a:rPr>
              <a:t>IT Financial Mgmt. &amp; Optimization. </a:t>
            </a:r>
            <a:r>
              <a:rPr sz="900" b="0" i="0">
                <a:solidFill>
                  <a:srgbClr val="404040"/>
                </a:solidFill>
                <a:latin typeface="Poppins"/>
              </a:rPr>
              <a:t>Cost Transparency, FP&amp;A and Cost Transformation — making technology cost visible by service and by owner.</a:t>
            </a:r>
          </a:p>
          <a:p>
            <a:pPr algn="l">
              <a:spcBef>
                <a:spcPts val="0"/>
              </a:spcBef>
              <a:spcAft>
                <a:spcPts val="600"/>
              </a:spcAft>
            </a:pPr>
            <a:r>
              <a:rPr sz="900" b="1" i="0">
                <a:solidFill>
                  <a:srgbClr val="03C0C1"/>
                </a:solidFill>
                <a:latin typeface="Poppins"/>
              </a:rPr>
              <a:t>▪  </a:t>
            </a:r>
            <a:r>
              <a:rPr sz="900" b="1" i="0">
                <a:solidFill>
                  <a:srgbClr val="03CBFF"/>
                </a:solidFill>
                <a:latin typeface="Poppins"/>
              </a:rPr>
              <a:t>Financial Transparency. </a:t>
            </a:r>
            <a:r>
              <a:rPr sz="900" b="0" i="0">
                <a:solidFill>
                  <a:srgbClr val="404040"/>
                </a:solidFill>
                <a:latin typeface="Poppins"/>
              </a:rPr>
              <a:t>One of the six capabilities: a defensible baseline of technology spend before cost targets are set.</a:t>
            </a:r>
          </a:p>
          <a:p>
            <a:pPr algn="l">
              <a:spcBef>
                <a:spcPts val="0"/>
              </a:spcBef>
              <a:spcAft>
                <a:spcPts val="600"/>
              </a:spcAft>
            </a:pPr>
            <a:r>
              <a:rPr sz="900" b="1" i="0">
                <a:solidFill>
                  <a:srgbClr val="03C0C1"/>
                </a:solidFill>
                <a:latin typeface="Poppins"/>
              </a:rPr>
              <a:t>▪  </a:t>
            </a:r>
            <a:r>
              <a:rPr sz="900" b="1" i="0">
                <a:solidFill>
                  <a:srgbClr val="03CBFF"/>
                </a:solidFill>
                <a:latin typeface="Poppins"/>
              </a:rPr>
              <a:t>Organizational &amp; Operational Efficiency. </a:t>
            </a:r>
            <a:r>
              <a:rPr sz="900" b="0" i="0">
                <a:solidFill>
                  <a:srgbClr val="404040"/>
                </a:solidFill>
                <a:latin typeface="Poppins"/>
              </a:rPr>
              <a:t>Operating model and organization design where a reorganization changes who does what.</a:t>
            </a:r>
          </a:p>
          <a:p>
            <a:pPr algn="l">
              <a:spcBef>
                <a:spcPts val="0"/>
              </a:spcBef>
              <a:spcAft>
                <a:spcPts val="600"/>
              </a:spcAft>
            </a:pPr>
            <a:r>
              <a:rPr sz="900" b="1" i="0">
                <a:solidFill>
                  <a:srgbClr val="03C0C1"/>
                </a:solidFill>
                <a:latin typeface="Poppins"/>
              </a:rPr>
              <a:t>▪  </a:t>
            </a:r>
            <a:r>
              <a:rPr sz="900" b="1" i="0">
                <a:solidFill>
                  <a:srgbClr val="03CBFF"/>
                </a:solidFill>
                <a:latin typeface="Poppins"/>
              </a:rPr>
              <a:t>Application rationalization. </a:t>
            </a:r>
            <a:r>
              <a:rPr sz="900" b="0" i="0">
                <a:solidFill>
                  <a:srgbClr val="404040"/>
                </a:solidFill>
                <a:latin typeface="Poppins"/>
              </a:rPr>
              <a:t>Discovery, mapping, retain/replace/retire categorization, then a rationalization strategy and roadmap.</a:t>
            </a:r>
          </a:p>
        </p:txBody>
      </p:sp>
      <p:sp>
        <p:nvSpPr>
          <p:cNvPr id="18" name="Rectangle 17"/>
          <p:cNvSpPr/>
          <p:nvPr/>
        </p:nvSpPr>
        <p:spPr>
          <a:xfrm>
            <a:off x="4617720" y="1426464"/>
            <a:ext cx="4160520" cy="2651760"/>
          </a:xfrm>
          <a:prstGeom prst="rect">
            <a:avLst/>
          </a:prstGeom>
          <a:solidFill>
            <a:srgbClr val="FFFFFF"/>
          </a:solidFill>
          <a:ln w="9525">
            <a:solidFill>
              <a:srgbClr val="D1D4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617720" y="1426464"/>
            <a:ext cx="4160520" cy="310896"/>
          </a:xfrm>
          <a:prstGeom prst="rect">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690872" y="1444752"/>
            <a:ext cx="4014215" cy="274320"/>
          </a:xfrm>
          <a:prstGeom prst="rect">
            <a:avLst/>
          </a:prstGeom>
          <a:noFill/>
        </p:spPr>
        <p:txBody>
          <a:bodyPr wrap="square" lIns="45720" rIns="45720" anchor="ctr">
            <a:spAutoFit/>
          </a:bodyPr>
          <a:lstStyle/>
          <a:p>
            <a:pPr algn="l">
              <a:spcBef>
                <a:spcPts val="0"/>
              </a:spcBef>
              <a:spcAft>
                <a:spcPts val="0"/>
              </a:spcAft>
            </a:pPr>
            <a:r>
              <a:rPr sz="1100" b="1" i="0">
                <a:solidFill>
                  <a:srgbClr val="FFFFFF"/>
                </a:solidFill>
                <a:latin typeface="Poppins"/>
              </a:rPr>
              <a:t>Aberdeen Capability — no delivery claim</a:t>
            </a:r>
          </a:p>
        </p:txBody>
      </p:sp>
      <p:sp>
        <p:nvSpPr>
          <p:cNvPr id="21" name="TextBox 20"/>
          <p:cNvSpPr txBox="1"/>
          <p:nvPr/>
        </p:nvSpPr>
        <p:spPr>
          <a:xfrm>
            <a:off x="4727448" y="1792224"/>
            <a:ext cx="3968496" cy="2212848"/>
          </a:xfrm>
          <a:prstGeom prst="rect">
            <a:avLst/>
          </a:prstGeom>
          <a:noFill/>
        </p:spPr>
        <p:txBody>
          <a:bodyPr wrap="square" lIns="45720" rIns="45720" anchor="t">
            <a:spAutoFit/>
          </a:bodyPr>
          <a:lstStyle/>
          <a:p>
            <a:pPr algn="l">
              <a:spcBef>
                <a:spcPts val="0"/>
              </a:spcBef>
              <a:spcAft>
                <a:spcPts val="600"/>
              </a:spcAft>
            </a:pPr>
            <a:r>
              <a:rPr sz="900" b="1" i="0">
                <a:solidFill>
                  <a:srgbClr val="03C0C1"/>
                </a:solidFill>
                <a:latin typeface="Poppins"/>
              </a:rPr>
              <a:t>▪  </a:t>
            </a:r>
            <a:r>
              <a:rPr sz="900" b="0" i="0">
                <a:solidFill>
                  <a:srgbClr val="404040"/>
                </a:solidFill>
                <a:latin typeface="Poppins"/>
              </a:rPr>
              <a:t>Aberdeen rates its own proof on this topic as Thin: the capability rests on indirect evidence and implies no delivery history. This is stated rather than dressed up.</a:t>
            </a:r>
          </a:p>
          <a:p>
            <a:pPr algn="l">
              <a:spcBef>
                <a:spcPts val="0"/>
              </a:spcBef>
              <a:spcAft>
                <a:spcPts val="600"/>
              </a:spcAft>
            </a:pPr>
            <a:r>
              <a:rPr sz="900" b="1" i="0">
                <a:solidFill>
                  <a:srgbClr val="03C0C1"/>
                </a:solidFill>
                <a:latin typeface="Poppins"/>
              </a:rPr>
              <a:t>▪  </a:t>
            </a:r>
            <a:r>
              <a:rPr sz="900" b="0" i="0">
                <a:solidFill>
                  <a:srgbClr val="404040"/>
                </a:solidFill>
                <a:latin typeface="Poppins"/>
              </a:rPr>
              <a:t>The nearest quantified point is adjacent, not in cost transparency: application rationalization delivering $50m+ of savings over five years</a:t>
            </a:r>
            <a:r>
              <a:rPr sz="900" b="1" i="0">
                <a:solidFill>
                  <a:srgbClr val="09375F"/>
                </a:solidFill>
                <a:latin typeface="Poppins"/>
              </a:rPr>
              <a:t>  — Provider, $500M–$999M</a:t>
            </a:r>
          </a:p>
          <a:p>
            <a:pPr algn="l">
              <a:spcBef>
                <a:spcPts val="0"/>
              </a:spcBef>
              <a:spcAft>
                <a:spcPts val="600"/>
              </a:spcAft>
            </a:pPr>
            <a:r>
              <a:rPr sz="900" b="1" i="0">
                <a:solidFill>
                  <a:srgbClr val="03C0C1"/>
                </a:solidFill>
                <a:latin typeface="Poppins"/>
              </a:rPr>
              <a:t>▪  </a:t>
            </a:r>
            <a:r>
              <a:rPr sz="900" b="0" i="0">
                <a:solidFill>
                  <a:srgbClr val="404040"/>
                </a:solidFill>
                <a:latin typeface="Poppins"/>
              </a:rPr>
              <a:t>A business case and operating model for global sourcing transformation across all IT towers — applications, infrastructure, data and cyber</a:t>
            </a:r>
            <a:r>
              <a:rPr sz="900" b="1" i="0">
                <a:solidFill>
                  <a:srgbClr val="09375F"/>
                </a:solidFill>
                <a:latin typeface="Poppins"/>
              </a:rPr>
              <a:t>  — Provider, $10B+</a:t>
            </a:r>
          </a:p>
          <a:p>
            <a:pPr algn="l">
              <a:spcBef>
                <a:spcPts val="0"/>
              </a:spcBef>
              <a:spcAft>
                <a:spcPts val="600"/>
              </a:spcAft>
            </a:pPr>
            <a:r>
              <a:rPr sz="900" b="1" i="0">
                <a:solidFill>
                  <a:srgbClr val="03C0C1"/>
                </a:solidFill>
                <a:latin typeface="Poppins"/>
              </a:rPr>
              <a:t>▪  </a:t>
            </a:r>
            <a:r>
              <a:rPr sz="900" b="0" i="0">
                <a:solidFill>
                  <a:srgbClr val="404040"/>
                </a:solidFill>
                <a:latin typeface="Poppins"/>
              </a:rPr>
              <a:t>If proof matters more than capability here, topics 1 and 2 are the stronger place to start and this one follows.</a:t>
            </a:r>
          </a:p>
        </p:txBody>
      </p:sp>
      <p:sp>
        <p:nvSpPr>
          <p:cNvPr id="22" name="TextBox 21"/>
          <p:cNvSpPr txBox="1"/>
          <p:nvPr/>
        </p:nvSpPr>
        <p:spPr>
          <a:xfrm>
            <a:off x="274320" y="4169663"/>
            <a:ext cx="8503920" cy="402336"/>
          </a:xfrm>
          <a:prstGeom prst="rect">
            <a:avLst/>
          </a:prstGeom>
          <a:noFill/>
        </p:spPr>
        <p:txBody>
          <a:bodyPr wrap="square" lIns="45720" rIns="45720" anchor="t">
            <a:spAutoFit/>
          </a:bodyPr>
          <a:lstStyle/>
          <a:p>
            <a:pPr algn="l">
              <a:spcBef>
                <a:spcPts val="0"/>
              </a:spcBef>
              <a:spcAft>
                <a:spcPts val="0"/>
              </a:spcAft>
            </a:pPr>
            <a:r>
              <a:rPr sz="750" b="0" i="0">
                <a:solidFill>
                  <a:srgbClr val="5F5F5F"/>
                </a:solidFill>
                <a:latin typeface="Poppins"/>
              </a:rPr>
              <a:t>Arkema figures: the fixed cost objective and “streamlining the organization”, pp.1–2 and p.5; operating income €141.4m including €46m of exceptional expenses for the Jarrie and Pierre-Bénite reorganization, legal proceedings and the divestment, p.3; cash allocation, working capital and the €600m capex limit, p.5. The cash squeeze is disclosed at group level only, so it cannot yet be aimed at a segment.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5720"/>
            <a:ext cx="9144000" cy="18288"/>
          </a:xfrm>
          <a:prstGeom prst="rect">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274320" y="201168"/>
            <a:ext cx="8595360" cy="402336"/>
          </a:xfrm>
          <a:prstGeom prst="rect">
            <a:avLst/>
          </a:prstGeom>
          <a:noFill/>
        </p:spPr>
        <p:txBody>
          <a:bodyPr wrap="square" lIns="45720" rIns="45720" anchor="t">
            <a:spAutoFit/>
          </a:bodyPr>
          <a:lstStyle/>
          <a:p>
            <a:pPr algn="l">
              <a:spcBef>
                <a:spcPts val="0"/>
              </a:spcBef>
              <a:spcAft>
                <a:spcPts val="0"/>
              </a:spcAft>
            </a:pPr>
            <a:r>
              <a:rPr sz="2400" b="1" i="0">
                <a:solidFill>
                  <a:srgbClr val="09375F"/>
                </a:solidFill>
                <a:latin typeface="Poppins"/>
              </a:rPr>
              <a:t>Bringing it together — what to do first</a:t>
            </a:r>
          </a:p>
        </p:txBody>
      </p:sp>
      <p:pic>
        <p:nvPicPr>
          <p:cNvPr id="4" name="Picture 3" descr="arkema_logo.png"/>
          <p:cNvPicPr>
            <a:picLocks noChangeAspect="1"/>
          </p:cNvPicPr>
          <p:nvPr/>
        </p:nvPicPr>
        <p:blipFill>
          <a:blip r:embed="rId2"/>
          <a:stretch>
            <a:fillRect/>
          </a:stretch>
        </p:blipFill>
        <p:spPr>
          <a:xfrm>
            <a:off x="274320" y="4828032"/>
            <a:ext cx="559333" cy="169164"/>
          </a:xfrm>
          <a:prstGeom prst="rect">
            <a:avLst/>
          </a:prstGeom>
        </p:spPr>
      </p:pic>
      <p:pic>
        <p:nvPicPr>
          <p:cNvPr id="5" name="Picture 4" descr="aberdeen_logo.png"/>
          <p:cNvPicPr>
            <a:picLocks noChangeAspect="1"/>
          </p:cNvPicPr>
          <p:nvPr/>
        </p:nvPicPr>
        <p:blipFill>
          <a:blip r:embed="rId3"/>
          <a:stretch>
            <a:fillRect/>
          </a:stretch>
        </p:blipFill>
        <p:spPr>
          <a:xfrm>
            <a:off x="7818120" y="4791456"/>
            <a:ext cx="868680" cy="195856"/>
          </a:xfrm>
          <a:prstGeom prst="rect">
            <a:avLst/>
          </a:prstGeom>
        </p:spPr>
      </p:pic>
      <p:sp>
        <p:nvSpPr>
          <p:cNvPr id="6" name="TextBox 5"/>
          <p:cNvSpPr txBox="1"/>
          <p:nvPr/>
        </p:nvSpPr>
        <p:spPr>
          <a:xfrm>
            <a:off x="2103120" y="4846320"/>
            <a:ext cx="5577840" cy="182880"/>
          </a:xfrm>
          <a:prstGeom prst="rect">
            <a:avLst/>
          </a:prstGeom>
          <a:noFill/>
        </p:spPr>
        <p:txBody>
          <a:bodyPr wrap="square" lIns="45720" rIns="45720" anchor="t">
            <a:spAutoFit/>
          </a:bodyPr>
          <a:lstStyle/>
          <a:p>
            <a:pPr algn="ctr">
              <a:spcBef>
                <a:spcPts val="0"/>
              </a:spcBef>
              <a:spcAft>
                <a:spcPts val="0"/>
              </a:spcAft>
            </a:pPr>
            <a:r>
              <a:rPr sz="700" b="1" i="0">
                <a:solidFill>
                  <a:srgbClr val="5F5F5F"/>
                </a:solidFill>
                <a:latin typeface="Poppins"/>
              </a:rPr>
              <a:t>PROVISIONAL — PENDING REVIEW</a:t>
            </a:r>
            <a:r>
              <a:rPr sz="700" b="0" i="0">
                <a:solidFill>
                  <a:srgbClr val="5F5F5F"/>
                </a:solidFill>
                <a:latin typeface="Poppins"/>
              </a:rPr>
              <a:t>   ·   CONFIDENTIAL  ·  Aberdeen Advisors  ·  2026</a:t>
            </a:r>
          </a:p>
        </p:txBody>
      </p:sp>
      <p:sp>
        <p:nvSpPr>
          <p:cNvPr id="7" name="TextBox 6"/>
          <p:cNvSpPr txBox="1"/>
          <p:nvPr/>
        </p:nvSpPr>
        <p:spPr>
          <a:xfrm>
            <a:off x="8686800" y="4828032"/>
            <a:ext cx="320040" cy="182880"/>
          </a:xfrm>
          <a:prstGeom prst="rect">
            <a:avLst/>
          </a:prstGeom>
          <a:noFill/>
        </p:spPr>
        <p:txBody>
          <a:bodyPr wrap="square" lIns="45720" rIns="45720" anchor="t">
            <a:spAutoFit/>
          </a:bodyPr>
          <a:lstStyle/>
          <a:p>
            <a:pPr algn="r">
              <a:spcBef>
                <a:spcPts val="0"/>
              </a:spcBef>
              <a:spcAft>
                <a:spcPts val="0"/>
              </a:spcAft>
            </a:pPr>
            <a:r>
              <a:rPr sz="800" b="0" i="0">
                <a:solidFill>
                  <a:srgbClr val="5F5F5F"/>
                </a:solidFill>
                <a:latin typeface="Poppins"/>
              </a:rPr>
              <a:t>10</a:t>
            </a:r>
          </a:p>
        </p:txBody>
      </p:sp>
      <p:sp>
        <p:nvSpPr>
          <p:cNvPr id="8" name="Rectangle 7"/>
          <p:cNvSpPr/>
          <p:nvPr/>
        </p:nvSpPr>
        <p:spPr>
          <a:xfrm>
            <a:off x="0" y="932688"/>
            <a:ext cx="3017520" cy="3675887"/>
          </a:xfrm>
          <a:prstGeom prst="rect">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274320" y="1115568"/>
            <a:ext cx="2514600" cy="2194560"/>
          </a:xfrm>
          <a:prstGeom prst="rect">
            <a:avLst/>
          </a:prstGeom>
          <a:noFill/>
        </p:spPr>
        <p:txBody>
          <a:bodyPr wrap="square" lIns="45720" rIns="45720" anchor="t">
            <a:spAutoFit/>
          </a:bodyPr>
          <a:lstStyle/>
          <a:p>
            <a:pPr algn="l">
              <a:spcBef>
                <a:spcPts val="0"/>
              </a:spcBef>
              <a:spcAft>
                <a:spcPts val="800"/>
              </a:spcAft>
            </a:pPr>
            <a:r>
              <a:rPr sz="1100" b="0" i="0">
                <a:solidFill>
                  <a:srgbClr val="FFFFFF"/>
                </a:solidFill>
                <a:latin typeface="Poppins"/>
              </a:rPr>
              <a:t>The quarter splits into a margin story that is working and a cash story that is not yet.</a:t>
            </a:r>
          </a:p>
          <a:p>
            <a:pPr algn="l">
              <a:spcBef>
                <a:spcPts val="0"/>
              </a:spcBef>
              <a:spcAft>
                <a:spcPts val="800"/>
              </a:spcAft>
            </a:pPr>
            <a:r>
              <a:rPr sz="1100" b="0" i="0">
                <a:solidFill>
                  <a:srgbClr val="FFFFFF"/>
                </a:solidFill>
                <a:latin typeface="Poppins"/>
              </a:rPr>
              <a:t>Aberdeen's strongest ground is where Arkema carries integration and program load at once: topics 1 and 2 can be discussed with proof, topic 3 as capability only.</a:t>
            </a:r>
          </a:p>
        </p:txBody>
      </p:sp>
      <p:sp>
        <p:nvSpPr>
          <p:cNvPr id="10" name="TextBox 9"/>
          <p:cNvSpPr txBox="1"/>
          <p:nvPr/>
        </p:nvSpPr>
        <p:spPr>
          <a:xfrm>
            <a:off x="274320" y="3931920"/>
            <a:ext cx="2514600" cy="548640"/>
          </a:xfrm>
          <a:prstGeom prst="rect">
            <a:avLst/>
          </a:prstGeom>
          <a:noFill/>
        </p:spPr>
        <p:txBody>
          <a:bodyPr wrap="square" lIns="45720" rIns="45720" anchor="t">
            <a:spAutoFit/>
          </a:bodyPr>
          <a:lstStyle/>
          <a:p>
            <a:pPr algn="l">
              <a:spcBef>
                <a:spcPts val="0"/>
              </a:spcBef>
              <a:spcAft>
                <a:spcPts val="0"/>
              </a:spcAft>
            </a:pPr>
            <a:r>
              <a:rPr sz="800" b="0" i="0">
                <a:solidFill>
                  <a:srgbClr val="FFFFFF"/>
                </a:solidFill>
                <a:latin typeface="Poppins"/>
              </a:rPr>
              <a:t>Arkema appears in Aberdeen's client roster and is named the firm's visible engagement in Energy &amp; Industrials. No engagement detail is on record.</a:t>
            </a:r>
          </a:p>
        </p:txBody>
      </p:sp>
      <p:sp>
        <p:nvSpPr>
          <p:cNvPr id="11" name="TextBox 10"/>
          <p:cNvSpPr txBox="1"/>
          <p:nvPr/>
        </p:nvSpPr>
        <p:spPr>
          <a:xfrm>
            <a:off x="3291840" y="1005840"/>
            <a:ext cx="5486400" cy="274320"/>
          </a:xfrm>
          <a:prstGeom prst="rect">
            <a:avLst/>
          </a:prstGeom>
          <a:noFill/>
        </p:spPr>
        <p:txBody>
          <a:bodyPr wrap="square" lIns="45720" rIns="45720" anchor="t">
            <a:spAutoFit/>
          </a:bodyPr>
          <a:lstStyle/>
          <a:p>
            <a:pPr algn="l">
              <a:spcBef>
                <a:spcPts val="0"/>
              </a:spcBef>
              <a:spcAft>
                <a:spcPts val="0"/>
              </a:spcAft>
            </a:pPr>
            <a:r>
              <a:rPr sz="1400" b="1" i="0">
                <a:solidFill>
                  <a:srgbClr val="09375F"/>
                </a:solidFill>
                <a:latin typeface="Poppins"/>
              </a:rPr>
              <a:t>Proposed next step</a:t>
            </a:r>
          </a:p>
        </p:txBody>
      </p:sp>
      <p:cxnSp>
        <p:nvCxnSpPr>
          <p:cNvPr id="12" name="Connector 11"/>
          <p:cNvCxnSpPr/>
          <p:nvPr/>
        </p:nvCxnSpPr>
        <p:spPr>
          <a:xfrm>
            <a:off x="3310128" y="1298448"/>
            <a:ext cx="1188720" cy="0"/>
          </a:xfrm>
          <a:prstGeom prst="line">
            <a:avLst/>
          </a:prstGeom>
          <a:ln w="25400">
            <a:solidFill>
              <a:srgbClr val="F7CE01"/>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310128" y="1426464"/>
            <a:ext cx="237744" cy="237744"/>
          </a:xfrm>
          <a:prstGeom prst="ellipse">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FFFFF"/>
                </a:solidFill>
                <a:latin typeface="Poppins"/>
              </a:rPr>
              <a:t>1</a:t>
            </a:r>
          </a:p>
        </p:txBody>
      </p:sp>
      <p:sp>
        <p:nvSpPr>
          <p:cNvPr id="14" name="TextBox 13"/>
          <p:cNvSpPr txBox="1"/>
          <p:nvPr/>
        </p:nvSpPr>
        <p:spPr>
          <a:xfrm>
            <a:off x="3639312" y="1408176"/>
            <a:ext cx="5138928" cy="237744"/>
          </a:xfrm>
          <a:prstGeom prst="rect">
            <a:avLst/>
          </a:prstGeom>
          <a:noFill/>
        </p:spPr>
        <p:txBody>
          <a:bodyPr wrap="square" lIns="45720" rIns="45720" anchor="t">
            <a:spAutoFit/>
          </a:bodyPr>
          <a:lstStyle/>
          <a:p>
            <a:pPr algn="l">
              <a:spcBef>
                <a:spcPts val="0"/>
              </a:spcBef>
              <a:spcAft>
                <a:spcPts val="0"/>
              </a:spcAft>
            </a:pPr>
            <a:r>
              <a:rPr sz="1050" b="1" i="0">
                <a:solidFill>
                  <a:srgbClr val="09375F"/>
                </a:solidFill>
                <a:latin typeface="Poppins"/>
              </a:rPr>
              <a:t>A working session on integration and program-assurance load</a:t>
            </a:r>
          </a:p>
        </p:txBody>
      </p:sp>
      <p:sp>
        <p:nvSpPr>
          <p:cNvPr id="15" name="TextBox 14"/>
          <p:cNvSpPr txBox="1"/>
          <p:nvPr/>
        </p:nvSpPr>
        <p:spPr>
          <a:xfrm>
            <a:off x="3639312" y="1645920"/>
            <a:ext cx="5138928" cy="402336"/>
          </a:xfrm>
          <a:prstGeom prst="rect">
            <a:avLst/>
          </a:prstGeom>
          <a:noFill/>
        </p:spPr>
        <p:txBody>
          <a:bodyPr wrap="square" lIns="45720" rIns="45720" anchor="t">
            <a:spAutoFit/>
          </a:bodyPr>
          <a:lstStyle/>
          <a:p>
            <a:pPr algn="l">
              <a:spcBef>
                <a:spcPts val="0"/>
              </a:spcBef>
              <a:spcAft>
                <a:spcPts val="0"/>
              </a:spcAft>
            </a:pPr>
            <a:r>
              <a:rPr sz="900" b="0" i="0">
                <a:solidFill>
                  <a:srgbClr val="404040"/>
                </a:solidFill>
                <a:latin typeface="Poppins"/>
              </a:rPr>
              <a:t>Across the five ramping projects and the Dow adhesives integration — where the delivery risk and the capital ceiling meet.</a:t>
            </a:r>
          </a:p>
        </p:txBody>
      </p:sp>
      <p:cxnSp>
        <p:nvCxnSpPr>
          <p:cNvPr id="16" name="Connector 15"/>
          <p:cNvCxnSpPr/>
          <p:nvPr/>
        </p:nvCxnSpPr>
        <p:spPr>
          <a:xfrm>
            <a:off x="3310128" y="2103120"/>
            <a:ext cx="5468112" cy="0"/>
          </a:xfrm>
          <a:prstGeom prst="line">
            <a:avLst/>
          </a:prstGeom>
          <a:ln w="9525">
            <a:solidFill>
              <a:srgbClr val="D1D4DD"/>
            </a:solidFill>
            <a:prstDash val="dash"/>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310128" y="2203704"/>
            <a:ext cx="237744" cy="237744"/>
          </a:xfrm>
          <a:prstGeom prst="ellipse">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FFFFF"/>
                </a:solidFill>
                <a:latin typeface="Poppins"/>
              </a:rPr>
              <a:t>2</a:t>
            </a:r>
          </a:p>
        </p:txBody>
      </p:sp>
      <p:sp>
        <p:nvSpPr>
          <p:cNvPr id="18" name="TextBox 17"/>
          <p:cNvSpPr txBox="1"/>
          <p:nvPr/>
        </p:nvSpPr>
        <p:spPr>
          <a:xfrm>
            <a:off x="3639312" y="2185416"/>
            <a:ext cx="5138928" cy="237744"/>
          </a:xfrm>
          <a:prstGeom prst="rect">
            <a:avLst/>
          </a:prstGeom>
          <a:noFill/>
        </p:spPr>
        <p:txBody>
          <a:bodyPr wrap="square" lIns="45720" rIns="45720" anchor="t">
            <a:spAutoFit/>
          </a:bodyPr>
          <a:lstStyle/>
          <a:p>
            <a:pPr algn="l">
              <a:spcBef>
                <a:spcPts val="0"/>
              </a:spcBef>
              <a:spcAft>
                <a:spcPts val="0"/>
              </a:spcAft>
            </a:pPr>
            <a:r>
              <a:rPr sz="1050" b="1" i="0">
                <a:solidFill>
                  <a:srgbClr val="09375F"/>
                </a:solidFill>
                <a:latin typeface="Poppins"/>
              </a:rPr>
              <a:t>Scoped as a 2 to 6 week sprint</a:t>
            </a:r>
          </a:p>
        </p:txBody>
      </p:sp>
      <p:sp>
        <p:nvSpPr>
          <p:cNvPr id="19" name="TextBox 18"/>
          <p:cNvSpPr txBox="1"/>
          <p:nvPr/>
        </p:nvSpPr>
        <p:spPr>
          <a:xfrm>
            <a:off x="3639312" y="2423160"/>
            <a:ext cx="5138928" cy="402336"/>
          </a:xfrm>
          <a:prstGeom prst="rect">
            <a:avLst/>
          </a:prstGeom>
          <a:noFill/>
        </p:spPr>
        <p:txBody>
          <a:bodyPr wrap="square" lIns="45720" rIns="45720" anchor="t">
            <a:spAutoFit/>
          </a:bodyPr>
          <a:lstStyle/>
          <a:p>
            <a:pPr algn="l">
              <a:spcBef>
                <a:spcPts val="0"/>
              </a:spcBef>
              <a:spcAft>
                <a:spcPts val="0"/>
              </a:spcAft>
            </a:pPr>
            <a:r>
              <a:rPr sz="900" b="0" i="0">
                <a:solidFill>
                  <a:srgbClr val="404040"/>
                </a:solidFill>
                <a:latin typeface="Poppins"/>
              </a:rPr>
              <a:t>Boutique speed and senior-practitioner delivery; fixed fee where possible.</a:t>
            </a:r>
          </a:p>
        </p:txBody>
      </p:sp>
      <p:cxnSp>
        <p:nvCxnSpPr>
          <p:cNvPr id="20" name="Connector 19"/>
          <p:cNvCxnSpPr/>
          <p:nvPr/>
        </p:nvCxnSpPr>
        <p:spPr>
          <a:xfrm>
            <a:off x="3310128" y="2880360"/>
            <a:ext cx="5468112" cy="0"/>
          </a:xfrm>
          <a:prstGeom prst="line">
            <a:avLst/>
          </a:prstGeom>
          <a:ln w="9525">
            <a:solidFill>
              <a:srgbClr val="D1D4DD"/>
            </a:solidFill>
            <a:prstDash val="dash"/>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3310128" y="2980944"/>
            <a:ext cx="237744" cy="237744"/>
          </a:xfrm>
          <a:prstGeom prst="ellipse">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FFFFF"/>
                </a:solidFill>
                <a:latin typeface="Poppins"/>
              </a:rPr>
              <a:t>3</a:t>
            </a:r>
          </a:p>
        </p:txBody>
      </p:sp>
      <p:sp>
        <p:nvSpPr>
          <p:cNvPr id="22" name="TextBox 21"/>
          <p:cNvSpPr txBox="1"/>
          <p:nvPr/>
        </p:nvSpPr>
        <p:spPr>
          <a:xfrm>
            <a:off x="3639312" y="2962656"/>
            <a:ext cx="5138928" cy="237744"/>
          </a:xfrm>
          <a:prstGeom prst="rect">
            <a:avLst/>
          </a:prstGeom>
          <a:noFill/>
        </p:spPr>
        <p:txBody>
          <a:bodyPr wrap="square" lIns="45720" rIns="45720" anchor="t">
            <a:spAutoFit/>
          </a:bodyPr>
          <a:lstStyle/>
          <a:p>
            <a:pPr algn="l">
              <a:spcBef>
                <a:spcPts val="0"/>
              </a:spcBef>
              <a:spcAft>
                <a:spcPts val="0"/>
              </a:spcAft>
            </a:pPr>
            <a:r>
              <a:rPr sz="1050" b="1" i="0">
                <a:solidFill>
                  <a:srgbClr val="09375F"/>
                </a:solidFill>
                <a:latin typeface="Poppins"/>
              </a:rPr>
              <a:t>Two topics with proof, one as capability</a:t>
            </a:r>
          </a:p>
        </p:txBody>
      </p:sp>
      <p:sp>
        <p:nvSpPr>
          <p:cNvPr id="23" name="TextBox 22"/>
          <p:cNvSpPr txBox="1"/>
          <p:nvPr/>
        </p:nvSpPr>
        <p:spPr>
          <a:xfrm>
            <a:off x="3639312" y="3200400"/>
            <a:ext cx="5138928" cy="402336"/>
          </a:xfrm>
          <a:prstGeom prst="rect">
            <a:avLst/>
          </a:prstGeom>
          <a:noFill/>
        </p:spPr>
        <p:txBody>
          <a:bodyPr wrap="square" lIns="45720" rIns="45720" anchor="t">
            <a:spAutoFit/>
          </a:bodyPr>
          <a:lstStyle/>
          <a:p>
            <a:pPr algn="l">
              <a:spcBef>
                <a:spcPts val="0"/>
              </a:spcBef>
              <a:spcAft>
                <a:spcPts val="0"/>
              </a:spcAft>
            </a:pPr>
            <a:r>
              <a:rPr sz="900" b="0" i="0">
                <a:solidFill>
                  <a:srgbClr val="404040"/>
                </a:solidFill>
                <a:latin typeface="Poppins"/>
              </a:rPr>
              <a:t>Topics 1 and 2 lead. Topic 3 is offered as capability and labelled as such.</a:t>
            </a:r>
          </a:p>
        </p:txBody>
      </p:sp>
      <p:cxnSp>
        <p:nvCxnSpPr>
          <p:cNvPr id="24" name="Connector 23"/>
          <p:cNvCxnSpPr/>
          <p:nvPr/>
        </p:nvCxnSpPr>
        <p:spPr>
          <a:xfrm>
            <a:off x="3310128" y="3657600"/>
            <a:ext cx="5468112" cy="0"/>
          </a:xfrm>
          <a:prstGeom prst="line">
            <a:avLst/>
          </a:prstGeom>
          <a:ln w="9525">
            <a:solidFill>
              <a:srgbClr val="D1D4DD"/>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3310128" y="3758184"/>
            <a:ext cx="237744" cy="237744"/>
          </a:xfrm>
          <a:prstGeom prst="ellipse">
            <a:avLst/>
          </a:prstGeom>
          <a:solidFill>
            <a:srgbClr val="0937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rgbClr val="FFFFFF"/>
                </a:solidFill>
                <a:latin typeface="Poppins"/>
              </a:rPr>
              <a:t>4</a:t>
            </a:r>
          </a:p>
        </p:txBody>
      </p:sp>
      <p:sp>
        <p:nvSpPr>
          <p:cNvPr id="26" name="TextBox 25"/>
          <p:cNvSpPr txBox="1"/>
          <p:nvPr/>
        </p:nvSpPr>
        <p:spPr>
          <a:xfrm>
            <a:off x="3639312" y="3739896"/>
            <a:ext cx="5138928" cy="237744"/>
          </a:xfrm>
          <a:prstGeom prst="rect">
            <a:avLst/>
          </a:prstGeom>
          <a:noFill/>
        </p:spPr>
        <p:txBody>
          <a:bodyPr wrap="square" lIns="45720" rIns="45720" anchor="t">
            <a:spAutoFit/>
          </a:bodyPr>
          <a:lstStyle/>
          <a:p>
            <a:pPr algn="l">
              <a:spcBef>
                <a:spcPts val="0"/>
              </a:spcBef>
              <a:spcAft>
                <a:spcPts val="0"/>
              </a:spcAft>
            </a:pPr>
            <a:r>
              <a:rPr sz="1050" b="1" i="0">
                <a:solidFill>
                  <a:srgbClr val="09375F"/>
                </a:solidFill>
                <a:latin typeface="Poppins"/>
              </a:rPr>
              <a:t>Open questions resolved with Aberdeen first</a:t>
            </a:r>
          </a:p>
        </p:txBody>
      </p:sp>
      <p:sp>
        <p:nvSpPr>
          <p:cNvPr id="27" name="TextBox 26"/>
          <p:cNvSpPr txBox="1"/>
          <p:nvPr/>
        </p:nvSpPr>
        <p:spPr>
          <a:xfrm>
            <a:off x="3639312" y="3977640"/>
            <a:ext cx="5138928" cy="402336"/>
          </a:xfrm>
          <a:prstGeom prst="rect">
            <a:avLst/>
          </a:prstGeom>
          <a:noFill/>
        </p:spPr>
        <p:txBody>
          <a:bodyPr wrap="square" lIns="45720" rIns="45720" anchor="t">
            <a:spAutoFit/>
          </a:bodyPr>
          <a:lstStyle/>
          <a:p>
            <a:pPr algn="l">
              <a:spcBef>
                <a:spcPts val="0"/>
              </a:spcBef>
              <a:spcAft>
                <a:spcPts val="0"/>
              </a:spcAft>
            </a:pPr>
            <a:r>
              <a:rPr sz="900" b="0" i="0">
                <a:solidFill>
                  <a:srgbClr val="404040"/>
                </a:solidFill>
                <a:latin typeface="Poppins"/>
              </a:rPr>
              <a:t>Relationship position, competitor set and the segment view of the cash squeeze are unresolved in the source material — see the next page.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5720"/>
            <a:ext cx="9144000" cy="18288"/>
          </a:xfrm>
          <a:prstGeom prst="rect">
            <a:avLst/>
          </a:prstGeom>
          <a:solidFill>
            <a:srgbClr val="44B0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274320" y="201168"/>
            <a:ext cx="8595360" cy="402336"/>
          </a:xfrm>
          <a:prstGeom prst="rect">
            <a:avLst/>
          </a:prstGeom>
          <a:noFill/>
        </p:spPr>
        <p:txBody>
          <a:bodyPr wrap="square" lIns="45720" rIns="45720" anchor="t">
            <a:spAutoFit/>
          </a:bodyPr>
          <a:lstStyle/>
          <a:p>
            <a:pPr algn="l">
              <a:spcBef>
                <a:spcPts val="0"/>
              </a:spcBef>
              <a:spcAft>
                <a:spcPts val="0"/>
              </a:spcAft>
            </a:pPr>
            <a:r>
              <a:rPr sz="2400" b="1" i="0">
                <a:solidFill>
                  <a:srgbClr val="09375F"/>
                </a:solidFill>
                <a:latin typeface="Poppins"/>
              </a:rPr>
              <a:t>Sources and open questions</a:t>
            </a:r>
          </a:p>
        </p:txBody>
      </p:sp>
      <p:sp>
        <p:nvSpPr>
          <p:cNvPr id="4" name="TextBox 3"/>
          <p:cNvSpPr txBox="1"/>
          <p:nvPr/>
        </p:nvSpPr>
        <p:spPr>
          <a:xfrm>
            <a:off x="274320" y="621792"/>
            <a:ext cx="8595360" cy="365760"/>
          </a:xfrm>
          <a:prstGeom prst="rect">
            <a:avLst/>
          </a:prstGeom>
          <a:noFill/>
        </p:spPr>
        <p:txBody>
          <a:bodyPr wrap="square" lIns="45720" rIns="45720" anchor="t">
            <a:spAutoFit/>
          </a:bodyPr>
          <a:lstStyle/>
          <a:p>
            <a:pPr algn="l">
              <a:spcBef>
                <a:spcPts val="0"/>
              </a:spcBef>
              <a:spcAft>
                <a:spcPts val="0"/>
              </a:spcAft>
            </a:pPr>
            <a:r>
              <a:rPr sz="1200" b="0" i="0">
                <a:solidFill>
                  <a:srgbClr val="09375F"/>
                </a:solidFill>
                <a:latin typeface="Poppins"/>
              </a:rPr>
              <a:t>What this deck is built on, and what it deliberately does not claim.</a:t>
            </a:r>
          </a:p>
        </p:txBody>
      </p:sp>
      <p:pic>
        <p:nvPicPr>
          <p:cNvPr id="5" name="Picture 4" descr="arkema_logo.png"/>
          <p:cNvPicPr>
            <a:picLocks noChangeAspect="1"/>
          </p:cNvPicPr>
          <p:nvPr/>
        </p:nvPicPr>
        <p:blipFill>
          <a:blip r:embed="rId2"/>
          <a:stretch>
            <a:fillRect/>
          </a:stretch>
        </p:blipFill>
        <p:spPr>
          <a:xfrm>
            <a:off x="274320" y="4828032"/>
            <a:ext cx="559333" cy="169164"/>
          </a:xfrm>
          <a:prstGeom prst="rect">
            <a:avLst/>
          </a:prstGeom>
        </p:spPr>
      </p:pic>
      <p:pic>
        <p:nvPicPr>
          <p:cNvPr id="6" name="Picture 5" descr="aberdeen_logo.png"/>
          <p:cNvPicPr>
            <a:picLocks noChangeAspect="1"/>
          </p:cNvPicPr>
          <p:nvPr/>
        </p:nvPicPr>
        <p:blipFill>
          <a:blip r:embed="rId3"/>
          <a:stretch>
            <a:fillRect/>
          </a:stretch>
        </p:blipFill>
        <p:spPr>
          <a:xfrm>
            <a:off x="7818120" y="4791456"/>
            <a:ext cx="868680" cy="195856"/>
          </a:xfrm>
          <a:prstGeom prst="rect">
            <a:avLst/>
          </a:prstGeom>
        </p:spPr>
      </p:pic>
      <p:sp>
        <p:nvSpPr>
          <p:cNvPr id="7" name="TextBox 6"/>
          <p:cNvSpPr txBox="1"/>
          <p:nvPr/>
        </p:nvSpPr>
        <p:spPr>
          <a:xfrm>
            <a:off x="2103120" y="4846320"/>
            <a:ext cx="5577840" cy="182880"/>
          </a:xfrm>
          <a:prstGeom prst="rect">
            <a:avLst/>
          </a:prstGeom>
          <a:noFill/>
        </p:spPr>
        <p:txBody>
          <a:bodyPr wrap="square" lIns="45720" rIns="45720" anchor="t">
            <a:spAutoFit/>
          </a:bodyPr>
          <a:lstStyle/>
          <a:p>
            <a:pPr algn="ctr">
              <a:spcBef>
                <a:spcPts val="0"/>
              </a:spcBef>
              <a:spcAft>
                <a:spcPts val="0"/>
              </a:spcAft>
            </a:pPr>
            <a:r>
              <a:rPr sz="700" b="1" i="0">
                <a:solidFill>
                  <a:srgbClr val="5F5F5F"/>
                </a:solidFill>
                <a:latin typeface="Poppins"/>
              </a:rPr>
              <a:t>PROVISIONAL — PENDING REVIEW</a:t>
            </a:r>
            <a:r>
              <a:rPr sz="700" b="0" i="0">
                <a:solidFill>
                  <a:srgbClr val="5F5F5F"/>
                </a:solidFill>
                <a:latin typeface="Poppins"/>
              </a:rPr>
              <a:t>   ·   CONFIDENTIAL  ·  Aberdeen Advisors  ·  2026</a:t>
            </a:r>
          </a:p>
        </p:txBody>
      </p:sp>
      <p:sp>
        <p:nvSpPr>
          <p:cNvPr id="8" name="TextBox 7"/>
          <p:cNvSpPr txBox="1"/>
          <p:nvPr/>
        </p:nvSpPr>
        <p:spPr>
          <a:xfrm>
            <a:off x="8686800" y="4828032"/>
            <a:ext cx="320040" cy="182880"/>
          </a:xfrm>
          <a:prstGeom prst="rect">
            <a:avLst/>
          </a:prstGeom>
          <a:noFill/>
        </p:spPr>
        <p:txBody>
          <a:bodyPr wrap="square" lIns="45720" rIns="45720" anchor="t">
            <a:spAutoFit/>
          </a:bodyPr>
          <a:lstStyle/>
          <a:p>
            <a:pPr algn="r">
              <a:spcBef>
                <a:spcPts val="0"/>
              </a:spcBef>
              <a:spcAft>
                <a:spcPts val="0"/>
              </a:spcAft>
            </a:pPr>
            <a:r>
              <a:rPr sz="800" b="0" i="0">
                <a:solidFill>
                  <a:srgbClr val="5F5F5F"/>
                </a:solidFill>
                <a:latin typeface="Poppins"/>
              </a:rPr>
              <a:t>11</a:t>
            </a:r>
          </a:p>
        </p:txBody>
      </p:sp>
      <p:sp>
        <p:nvSpPr>
          <p:cNvPr id="9" name="TextBox 8"/>
          <p:cNvSpPr txBox="1"/>
          <p:nvPr/>
        </p:nvSpPr>
        <p:spPr>
          <a:xfrm>
            <a:off x="274320" y="1097280"/>
            <a:ext cx="4160520" cy="237744"/>
          </a:xfrm>
          <a:prstGeom prst="rect">
            <a:avLst/>
          </a:prstGeom>
          <a:noFill/>
        </p:spPr>
        <p:txBody>
          <a:bodyPr wrap="square" lIns="45720" rIns="45720" anchor="t">
            <a:spAutoFit/>
          </a:bodyPr>
          <a:lstStyle/>
          <a:p>
            <a:pPr algn="l">
              <a:spcBef>
                <a:spcPts val="0"/>
              </a:spcBef>
              <a:spcAft>
                <a:spcPts val="0"/>
              </a:spcAft>
            </a:pPr>
            <a:r>
              <a:rPr sz="1150" b="1" i="0">
                <a:solidFill>
                  <a:srgbClr val="09375F"/>
                </a:solidFill>
                <a:latin typeface="Poppins"/>
              </a:rPr>
              <a:t>Sources used</a:t>
            </a:r>
          </a:p>
        </p:txBody>
      </p:sp>
      <p:cxnSp>
        <p:nvCxnSpPr>
          <p:cNvPr id="10" name="Connector 9"/>
          <p:cNvCxnSpPr/>
          <p:nvPr/>
        </p:nvCxnSpPr>
        <p:spPr>
          <a:xfrm>
            <a:off x="292608" y="1353312"/>
            <a:ext cx="1005840" cy="0"/>
          </a:xfrm>
          <a:prstGeom prst="line">
            <a:avLst/>
          </a:prstGeom>
          <a:ln w="19050">
            <a:solidFill>
              <a:srgbClr val="44B0B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92608" y="1426464"/>
            <a:ext cx="4142232" cy="1920240"/>
          </a:xfrm>
          <a:prstGeom prst="rect">
            <a:avLst/>
          </a:prstGeom>
          <a:noFill/>
        </p:spPr>
        <p:txBody>
          <a:bodyPr wrap="square" lIns="45720" rIns="45720" anchor="t">
            <a:spAutoFit/>
          </a:bodyPr>
          <a:lstStyle/>
          <a:p>
            <a:pPr algn="l">
              <a:spcBef>
                <a:spcPts val="0"/>
              </a:spcBef>
              <a:spcAft>
                <a:spcPts val="700"/>
              </a:spcAft>
            </a:pPr>
            <a:r>
              <a:rPr sz="850" b="1" i="0">
                <a:solidFill>
                  <a:srgbClr val="03C0C1"/>
                </a:solidFill>
                <a:latin typeface="Poppins"/>
              </a:rPr>
              <a:t>▪  </a:t>
            </a:r>
            <a:r>
              <a:rPr sz="850" b="1" i="0">
                <a:solidFill>
                  <a:srgbClr val="404040"/>
                </a:solidFill>
                <a:latin typeface="Poppins"/>
              </a:rPr>
              <a:t>Arkema, “Second-quarter 2026 results” press release, 30 July 2026.</a:t>
            </a:r>
            <a:r>
              <a:rPr sz="850" b="0" i="0">
                <a:solidFill>
                  <a:srgbClr val="404040"/>
                </a:solidFill>
                <a:latin typeface="Poppins"/>
              </a:rPr>
              <a:t> Every Arkema figure and quotation in this deck: key figures p.1, business performance pp.2–3, cash flow and net debt p.3, segments pp.3–5, outlook p.5, Group profile p.6, and the net debt and working capital tables in the consolidated financial information appendix.</a:t>
            </a:r>
          </a:p>
          <a:p>
            <a:pPr algn="l">
              <a:spcBef>
                <a:spcPts val="0"/>
              </a:spcBef>
              <a:spcAft>
                <a:spcPts val="700"/>
              </a:spcAft>
            </a:pPr>
            <a:r>
              <a:rPr sz="850" b="1" i="0">
                <a:solidFill>
                  <a:srgbClr val="03C0C1"/>
                </a:solidFill>
                <a:latin typeface="Poppins"/>
              </a:rPr>
              <a:t>▪  </a:t>
            </a:r>
            <a:r>
              <a:rPr sz="850" b="1" i="0">
                <a:solidFill>
                  <a:srgbClr val="404040"/>
                </a:solidFill>
                <a:latin typeface="Poppins"/>
              </a:rPr>
              <a:t>Aberdeen offering taxonomy and credential inventory.</a:t>
            </a:r>
            <a:r>
              <a:rPr sz="850" b="0" i="0">
                <a:solidFill>
                  <a:srgbClr val="404040"/>
                </a:solidFill>
                <a:latin typeface="Poppins"/>
              </a:rPr>
              <a:t> Offering names, service areas, firm profile and the credential-to-offering strength ratings.</a:t>
            </a:r>
          </a:p>
          <a:p>
            <a:pPr algn="l">
              <a:spcBef>
                <a:spcPts val="0"/>
              </a:spcBef>
              <a:spcAft>
                <a:spcPts val="700"/>
              </a:spcAft>
            </a:pPr>
            <a:r>
              <a:rPr sz="850" b="1" i="0">
                <a:solidFill>
                  <a:srgbClr val="03C0C1"/>
                </a:solidFill>
                <a:latin typeface="Poppins"/>
              </a:rPr>
              <a:t>▪  </a:t>
            </a:r>
            <a:r>
              <a:rPr sz="850" b="1" i="0">
                <a:solidFill>
                  <a:srgbClr val="404040"/>
                </a:solidFill>
                <a:latin typeface="Poppins"/>
              </a:rPr>
              <a:t>No aggregator, CRM record, web research or market data from memory was used.</a:t>
            </a:r>
            <a:r>
              <a:rPr sz="850" b="0" i="0">
                <a:solidFill>
                  <a:srgbClr val="404040"/>
                </a:solidFill>
                <a:latin typeface="Poppins"/>
              </a:rPr>
              <a:t> No competitor is named: the release names none and no competitor source was available.</a:t>
            </a:r>
          </a:p>
        </p:txBody>
      </p:sp>
      <p:sp>
        <p:nvSpPr>
          <p:cNvPr id="12" name="TextBox 11"/>
          <p:cNvSpPr txBox="1"/>
          <p:nvPr/>
        </p:nvSpPr>
        <p:spPr>
          <a:xfrm>
            <a:off x="4617720" y="1097280"/>
            <a:ext cx="4160520" cy="237744"/>
          </a:xfrm>
          <a:prstGeom prst="rect">
            <a:avLst/>
          </a:prstGeom>
          <a:noFill/>
        </p:spPr>
        <p:txBody>
          <a:bodyPr wrap="square" lIns="45720" rIns="45720" anchor="t">
            <a:spAutoFit/>
          </a:bodyPr>
          <a:lstStyle/>
          <a:p>
            <a:pPr algn="l">
              <a:spcBef>
                <a:spcPts val="0"/>
              </a:spcBef>
              <a:spcAft>
                <a:spcPts val="0"/>
              </a:spcAft>
            </a:pPr>
            <a:r>
              <a:rPr sz="1150" b="1" i="0">
                <a:solidFill>
                  <a:srgbClr val="09375F"/>
                </a:solidFill>
                <a:latin typeface="Poppins"/>
              </a:rPr>
              <a:t>Open questions carried forward</a:t>
            </a:r>
          </a:p>
        </p:txBody>
      </p:sp>
      <p:cxnSp>
        <p:nvCxnSpPr>
          <p:cNvPr id="13" name="Connector 12"/>
          <p:cNvCxnSpPr/>
          <p:nvPr/>
        </p:nvCxnSpPr>
        <p:spPr>
          <a:xfrm>
            <a:off x="4636008" y="1353312"/>
            <a:ext cx="1005840" cy="0"/>
          </a:xfrm>
          <a:prstGeom prst="line">
            <a:avLst/>
          </a:prstGeom>
          <a:ln w="19050">
            <a:solidFill>
              <a:srgbClr val="F7CE01"/>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636008" y="1426464"/>
            <a:ext cx="4142232" cy="2487168"/>
          </a:xfrm>
          <a:prstGeom prst="rect">
            <a:avLst/>
          </a:prstGeom>
          <a:noFill/>
        </p:spPr>
        <p:txBody>
          <a:bodyPr wrap="square" lIns="45720" rIns="45720" anchor="t">
            <a:spAutoFit/>
          </a:bodyPr>
          <a:lstStyle/>
          <a:p>
            <a:pPr algn="l">
              <a:spcBef>
                <a:spcPts val="0"/>
              </a:spcBef>
              <a:spcAft>
                <a:spcPts val="500"/>
              </a:spcAft>
            </a:pPr>
            <a:r>
              <a:rPr sz="800" b="1" i="0">
                <a:solidFill>
                  <a:srgbClr val="03C0C1"/>
                </a:solidFill>
                <a:latin typeface="Poppins"/>
              </a:rPr>
              <a:t>▪  </a:t>
            </a:r>
            <a:r>
              <a:rPr sz="800" b="1" i="0">
                <a:solidFill>
                  <a:srgbClr val="404040"/>
                </a:solidFill>
                <a:latin typeface="Poppins"/>
              </a:rPr>
              <a:t>No CRM, revenue or pipeline data was available</a:t>
            </a:r>
            <a:r>
              <a:rPr sz="800" b="0" i="0">
                <a:solidFill>
                  <a:srgbClr val="404040"/>
                </a:solidFill>
                <a:latin typeface="Poppins"/>
              </a:rPr>
              <a:t> — no match score, bucket, revenue trajectory or pipeline value, so the account play that should frame this deck is unresolved.</a:t>
            </a:r>
          </a:p>
          <a:p>
            <a:pPr algn="l">
              <a:spcBef>
                <a:spcPts val="0"/>
              </a:spcBef>
              <a:spcAft>
                <a:spcPts val="500"/>
              </a:spcAft>
            </a:pPr>
            <a:r>
              <a:rPr sz="800" b="1" i="0">
                <a:solidFill>
                  <a:srgbClr val="03C0C1"/>
                </a:solidFill>
                <a:latin typeface="Poppins"/>
              </a:rPr>
              <a:t>▪  </a:t>
            </a:r>
            <a:r>
              <a:rPr sz="800" b="1" i="0">
                <a:solidFill>
                  <a:srgbClr val="404040"/>
                </a:solidFill>
                <a:latin typeface="Poppins"/>
              </a:rPr>
              <a:t>Relationship position unknown</a:t>
            </a:r>
            <a:r>
              <a:rPr sz="800" b="0" i="0">
                <a:solidFill>
                  <a:srgbClr val="404040"/>
                </a:solidFill>
                <a:latin typeface="Poppins"/>
              </a:rPr>
              <a:t> — relationship owner, strength, key contacts, decision makers, executive sponsorship and last interaction are all empty and are reported empty, not filled.</a:t>
            </a:r>
          </a:p>
          <a:p>
            <a:pPr algn="l">
              <a:spcBef>
                <a:spcPts val="0"/>
              </a:spcBef>
              <a:spcAft>
                <a:spcPts val="500"/>
              </a:spcAft>
            </a:pPr>
            <a:r>
              <a:rPr sz="800" b="1" i="0">
                <a:solidFill>
                  <a:srgbClr val="03C0C1"/>
                </a:solidFill>
                <a:latin typeface="Poppins"/>
              </a:rPr>
              <a:t>▪  </a:t>
            </a:r>
            <a:r>
              <a:rPr sz="800" b="1" i="0">
                <a:solidFill>
                  <a:srgbClr val="404040"/>
                </a:solidFill>
                <a:latin typeface="Poppins"/>
              </a:rPr>
              <a:t>No competitor set established</a:t>
            </a:r>
            <a:r>
              <a:rPr sz="800" b="0" i="0">
                <a:solidFill>
                  <a:srgbClr val="404040"/>
                </a:solidFill>
                <a:latin typeface="Poppins"/>
              </a:rPr>
              <a:t> — and none inferred.</a:t>
            </a:r>
          </a:p>
          <a:p>
            <a:pPr algn="l">
              <a:spcBef>
                <a:spcPts val="0"/>
              </a:spcBef>
              <a:spcAft>
                <a:spcPts val="500"/>
              </a:spcAft>
            </a:pPr>
            <a:r>
              <a:rPr sz="800" b="1" i="0">
                <a:solidFill>
                  <a:srgbClr val="03C0C1"/>
                </a:solidFill>
                <a:latin typeface="Poppins"/>
              </a:rPr>
              <a:t>▪  </a:t>
            </a:r>
            <a:r>
              <a:rPr sz="800" b="1" i="0">
                <a:solidFill>
                  <a:srgbClr val="404040"/>
                </a:solidFill>
                <a:latin typeface="Poppins"/>
              </a:rPr>
              <a:t>Industry taxonomy mismatch flagged, not silently mapped</a:t>
            </a:r>
            <a:r>
              <a:rPr sz="800" b="0" i="0">
                <a:solidFill>
                  <a:srgbClr val="404040"/>
                </a:solidFill>
                <a:latin typeface="Poppins"/>
              </a:rPr>
              <a:t> — Manufacturing / Manufacturing &amp; Industrial / Energy &amp; Industrials.</a:t>
            </a:r>
          </a:p>
          <a:p>
            <a:pPr algn="l">
              <a:spcBef>
                <a:spcPts val="0"/>
              </a:spcBef>
              <a:spcAft>
                <a:spcPts val="500"/>
              </a:spcAft>
            </a:pPr>
            <a:r>
              <a:rPr sz="800" b="1" i="0">
                <a:solidFill>
                  <a:srgbClr val="03C0C1"/>
                </a:solidFill>
                <a:latin typeface="Poppins"/>
              </a:rPr>
              <a:t>▪  </a:t>
            </a:r>
            <a:r>
              <a:rPr sz="800" b="1" i="0">
                <a:solidFill>
                  <a:srgbClr val="404040"/>
                </a:solidFill>
                <a:latin typeface="Poppins"/>
              </a:rPr>
              <a:t>Cash squeeze not attributable by segment</a:t>
            </a:r>
            <a:r>
              <a:rPr sz="800" b="0" i="0">
                <a:solidFill>
                  <a:srgbClr val="404040"/>
                </a:solidFill>
                <a:latin typeface="Poppins"/>
              </a:rPr>
              <a:t> — working capital and cash flow are disclosed at group level only.</a:t>
            </a:r>
          </a:p>
          <a:p>
            <a:pPr algn="l">
              <a:spcBef>
                <a:spcPts val="0"/>
              </a:spcBef>
              <a:spcAft>
                <a:spcPts val="500"/>
              </a:spcAft>
            </a:pPr>
            <a:r>
              <a:rPr sz="800" b="1" i="0">
                <a:solidFill>
                  <a:srgbClr val="03C0C1"/>
                </a:solidFill>
                <a:latin typeface="Poppins"/>
              </a:rPr>
              <a:t>▪  </a:t>
            </a:r>
            <a:r>
              <a:rPr sz="800" b="1" i="0">
                <a:solidFill>
                  <a:srgbClr val="404040"/>
                </a:solidFill>
                <a:latin typeface="Poppins"/>
              </a:rPr>
              <a:t>Client-name approval undecided</a:t>
            </a:r>
            <a:r>
              <a:rPr sz="800" b="0" i="0">
                <a:solidFill>
                  <a:srgbClr val="404040"/>
                </a:solidFill>
                <a:latin typeface="Poppins"/>
              </a:rPr>
              <a:t> — credentials are anonymised to client type and revenue band; whether Arkema may be named externally is open.</a:t>
            </a:r>
          </a:p>
        </p:txBody>
      </p:sp>
      <p:sp>
        <p:nvSpPr>
          <p:cNvPr id="15" name="Rectangle 14"/>
          <p:cNvSpPr/>
          <p:nvPr/>
        </p:nvSpPr>
        <p:spPr>
          <a:xfrm>
            <a:off x="274320" y="4041648"/>
            <a:ext cx="8503920" cy="566928"/>
          </a:xfrm>
          <a:prstGeom prst="rect">
            <a:avLst/>
          </a:prstGeom>
          <a:solidFill>
            <a:srgbClr val="E7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4048" y="4096512"/>
            <a:ext cx="8284464" cy="493776"/>
          </a:xfrm>
          <a:prstGeom prst="rect">
            <a:avLst/>
          </a:prstGeom>
          <a:noFill/>
        </p:spPr>
        <p:txBody>
          <a:bodyPr wrap="square" lIns="45720" rIns="45720" anchor="t">
            <a:spAutoFit/>
          </a:bodyPr>
          <a:lstStyle/>
          <a:p>
            <a:pPr algn="l">
              <a:spcBef>
                <a:spcPts val="0"/>
              </a:spcBef>
              <a:spcAft>
                <a:spcPts val="0"/>
              </a:spcAft>
            </a:pPr>
            <a:r>
              <a:rPr sz="900" b="1" i="0">
                <a:solidFill>
                  <a:srgbClr val="09375F"/>
                </a:solidFill>
                <a:latin typeface="Poppins"/>
              </a:rPr>
              <a:t>PROVISIONAL — PENDING REVIEW.</a:t>
            </a:r>
            <a:r>
              <a:rPr sz="900" b="0" i="0">
                <a:solidFill>
                  <a:srgbClr val="404040"/>
                </a:solidFill>
                <a:latin typeface="Poppins"/>
              </a:rPr>
              <a:t>  This deck is an AI-generated draft and requires explicit human review and approval before finalization or any external use. No past Aberdeen engagement, deliverable, outcome or named contact at Arkema is asserted anywhere in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Arkema &amp; Aberdeen Advisors — Point of View on Q2 2026 results</dc:title>
  <dc:subject>PROVISIONAL — PENDING REVIEW. AI-generated draft requiring explicit human review and approval before finalization (AI Use Policy Draft 0.4).</dc:subject>
  <dc:creator>Aberdeen Advisors</dc:creator>
  <cp:keywords>PROVISIONAL; Arkema; POV; Q2 2026; Aberdeen Advisors</cp:keywords>
  <dc:description>Form: SKILL.md v1.1 CURRENT system, 10.00x5.62in, sec 4.5 patterns. Process: AGENT_WORKFLOW.md sec 5. Font set explicitly to Poppins on every run; Poppins is absent from the build container, so verify rendering before use.</dc:description>
  <cp:lastModifiedBy>Steve Canny</cp:lastModifiedBy>
  <cp:revision>1</cp:revision>
  <dcterms:created xsi:type="dcterms:W3CDTF">2013-01-27T09:14:16Z</dcterms:created>
  <dcterms:modified xsi:type="dcterms:W3CDTF">2013-01-27T09:15:58Z</dcterms:modified>
  <cp:category>Every Arkema figure traces to client-data/arkema-press-release-results-q2-2026.pdf (30 July 2026).</cp:category>
</cp:coreProperties>
</file>